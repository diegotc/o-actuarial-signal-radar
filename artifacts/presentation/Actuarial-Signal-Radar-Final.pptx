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dashboards show what happened. Actuarial Signal Radar asks whether it was unusually different from what we would have expected. It turns official insurance data into a signal an analyst can investigate. The separation is deliberate: we detect first, AI investigates second, and humans decide.
Sources / presenter reference (not for narration):
https://actuarial-signal-radar.diegoturciostc.workers.dev
https://github.com/DiegoTc/o-Actuarial-Signal-Radar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source is official CNBS Honduras data for motor insurance in national currency. These are monetary monthly accounting aggregates, not accident or claim counts. March 2025 illustrates the value of asking a better question: the raw ratio was normal, but its deviation from trend and seasonality generated an alert. This is not a validated actuarial loss ratio.
Sources / presenter reference (not for narration):
https://github.com/DiegoTc/o-Actuarial-Signal-Radar/blob/main/reports/case-studies/market_ratio_2025_03.md
https://actuarial-signal-radar.diegoturciostc.workers.dev/?metric=claims&amp;view=year&amp;year=2025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only prior available history, we estimate trend and month-of-year seasonality. Observed minus expected gives a residual. A twelve-month robust z-score checks whether that residual is unusual; other statistics add context. November 2020 remained unscored despite its large spike, because residual history was insufficient. Availability uses a conservative calendar lag, not confirmed release dates.
Sources / presenter reference (not for narration):
https://github.com/DiegoTc/o-Actuarial-Signal-Radar/blob/main/docs/expected-behavior-methodology.md
https://github.com/DiegoTc/o-Actuarial-Signal-Radar/blob/main/reports/dashboard/phase52-validation.md
https://github.com/DiegoTc/o-Actuarial-Signal-Radar/blob/main/docs/historical-replay-methodology.md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September 2025, reported vehicle claims were about 185.4 million Lempiras. The historical reference was 142.4 million: nearly 43 million, or thirty percent, above expected. The residual robust z-score was 11.02. This is money, not accident counts. Under our lag assumption, the signal becomes available December first. It warrants investigation; it does not establish a cause.
Sources / presenter reference (not for narration):
https://actuarial-signal-radar.diegoturciostc.workers.dev/cases/market_claims_2025_09
https://github.com/DiegoTc/o-Actuarial-Signal-Radar/blob/main/reports/case-studies/market_claims_2025_09.md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and investigation are different jobs. Evolus and the AMD-hosted model organize what changed, possible explanations, missing evidence, and useful next checks. Hypotheses remain unestablished. The screenshot is a recorded real public execution in Spanish, not a fresh inference. A human must review every accepted result; AI cannot override the signal.
Sources / presenter reference (not for narration):
https://github.com/DiegoTc/o-Actuarial-Signal-Radar/blob/main/docs/investigation-methodology.md
https://github.com/DiegoTc/o-Actuarial-Signal-Radar/blob/main/docs/cloudflare-deployment.md#production-results-and-remaining-blocker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Evolus is central to this partner-track submission. Its workflow receives the validated package, retrieves six indexed domain documents with checksum checks, orchestrates AMD Token Factory inference, and validates the response. DeepSeek-V4-Flash completed our tested investigations more reliably than the evaluated Qwen path, not a general benchmark. We did not validate self-hosted ROCm or vLLM. Native semantic search was not independently validated.
Sources / presenter reference (not for narration):
https://github.com/DiegoTc/o-Actuarial-Signal-Radar/blob/main/evolus/README.md
https://github.com/DiegoTc/o-Actuarial-Signal-Radar/blob/main/amd/README.md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coverage does not mean millions of training examples. This source provides roughly a hundred monthly points per main series. We chose transparent statistics so the same data and configuration produce the same signal. With individual claims, frequency, severity, vehicle characteristics, or repair costs, more complex models could be benchmarked against this baseline. They would not automatically be better.
Sources / presenter reference (not for narration):
https://github.com/DiegoTc/o-Actuarial-Signal-Radar/blob/main/README.md
https://github.com/DiegoTc/o-Actuarial-Signal-Radar/blob/main/docs/expected-behavior-methodology.md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public on Cloudflare, backed by Railway, Evolus, and AMD Token Factory. The latest public claims investigation completed in about 154 seconds. The ratio retry exposed an execution-envelope failure; we did not weaken validation. This remains a lagged retrospective backtest, not strict point-in-time performance. Public aggregates, possible revisions, exploratory materiality, and transient runtime state remain limitations. Explore the live demo and source code.
Sources / presenter reference (not for narration):
https://actuarial-signal-radar.diegoturciostc.workers.dev
https://github.com/DiegoTc/o-Actuarial-Signal-Radar
https://github.com/DiegoTc/o-Actuarial-Signal-Radar/blob/main/docs/cloudflare-deployment.md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ctuarial-signal-radar.diegoturciostc.workers.dev" TargetMode="External"/><Relationship Id="rId2" Type="http://schemas.openxmlformats.org/officeDocument/2006/relationships/hyperlink" Target="https://github.com/DiegoTc/o-Actuarial-Signal-Radar"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AMD DEVELOPER HACKATHON: ACT III</a:t>
            </a:r>
            <a:endParaRPr lang="en-US" sz="1000" dirty="0"/>
          </a:p>
        </p:txBody>
      </p:sp>
      <p:sp>
        <p:nvSpPr>
          <p:cNvPr id="3" name="Shape 1"/>
          <p:cNvSpPr/>
          <p:nvPr/>
        </p:nvSpPr>
        <p:spPr>
          <a:xfrm>
            <a:off x="502920" y="6437376"/>
            <a:ext cx="11183112" cy="0"/>
          </a:xfrm>
          <a:prstGeom prst="line">
            <a:avLst/>
          </a:prstGeom>
          <a:noFill/>
          <a:ln w="8890">
            <a:solidFill>
              <a:srgbClr val="DCE7EA"/>
            </a:solidFill>
            <a:prstDash val="solid"/>
          </a:ln>
        </p:spPr>
      </p:sp>
      <p:sp>
        <p:nvSpPr>
          <p:cNvPr id="4" name="Text 2"/>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5" name="Text 3"/>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6" name="Text 4"/>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01</a:t>
            </a:r>
            <a:endParaRPr lang="en-US" sz="1000" dirty="0"/>
          </a:p>
        </p:txBody>
      </p:sp>
      <p:sp>
        <p:nvSpPr>
          <p:cNvPr id="7" name="Text 5"/>
          <p:cNvSpPr/>
          <p:nvPr/>
        </p:nvSpPr>
        <p:spPr>
          <a:xfrm>
            <a:off x="548640" y="1024128"/>
            <a:ext cx="5760720" cy="1499616"/>
          </a:xfrm>
          <a:prstGeom prst="rect">
            <a:avLst/>
          </a:prstGeom>
          <a:noFill/>
          <a:ln/>
        </p:spPr>
        <p:txBody>
          <a:bodyPr wrap="square" lIns="0" tIns="0" rIns="0" bIns="0" rtlCol="0" anchor="ctr"/>
          <a:lstStyle/>
          <a:p>
            <a:pPr indent="0" marL="0">
              <a:lnSpc>
                <a:spcPct val="103000"/>
              </a:lnSpc>
              <a:buNone/>
            </a:pPr>
            <a:r>
              <a:rPr lang="en-US" sz="4500" b="1" dirty="0">
                <a:solidFill>
                  <a:srgbClr val="183543"/>
                </a:solidFill>
                <a:latin typeface="Arial" pitchFamily="34" charset="0"/>
                <a:ea typeface="Arial" pitchFamily="34" charset="-122"/>
                <a:cs typeface="Arial" pitchFamily="34" charset="-120"/>
              </a:rPr>
              <a:t>ACTUARIAL</a:t>
            </a:r>
            <a:endParaRPr lang="en-US" sz="4500" dirty="0"/>
          </a:p>
          <a:p>
            <a:pPr indent="0" marL="0">
              <a:lnSpc>
                <a:spcPct val="103000"/>
              </a:lnSpc>
              <a:buNone/>
            </a:pPr>
            <a:r>
              <a:rPr lang="en-US" sz="4500" b="1" dirty="0">
                <a:solidFill>
                  <a:srgbClr val="183543"/>
                </a:solidFill>
                <a:latin typeface="Arial" pitchFamily="34" charset="0"/>
                <a:ea typeface="Arial" pitchFamily="34" charset="-122"/>
                <a:cs typeface="Arial" pitchFamily="34" charset="-120"/>
              </a:rPr>
              <a:t>SIGNAL RADAR</a:t>
            </a:r>
            <a:endParaRPr lang="en-US" sz="4500" dirty="0"/>
          </a:p>
        </p:txBody>
      </p:sp>
      <p:sp>
        <p:nvSpPr>
          <p:cNvPr id="8" name="Text 6"/>
          <p:cNvSpPr/>
          <p:nvPr/>
        </p:nvSpPr>
        <p:spPr>
          <a:xfrm>
            <a:off x="566928" y="2761488"/>
            <a:ext cx="5577840" cy="393192"/>
          </a:xfrm>
          <a:prstGeom prst="rect">
            <a:avLst/>
          </a:prstGeom>
          <a:noFill/>
          <a:ln/>
        </p:spPr>
        <p:txBody>
          <a:bodyPr wrap="square" lIns="0" tIns="0" rIns="0" bIns="0" rtlCol="0" anchor="ctr"/>
          <a:lstStyle/>
          <a:p>
            <a:pPr indent="0" marL="0">
              <a:buNone/>
            </a:pPr>
            <a:r>
              <a:rPr lang="en-US" sz="2200" b="1" dirty="0">
                <a:solidFill>
                  <a:srgbClr val="164E63"/>
                </a:solidFill>
                <a:latin typeface="Arial" pitchFamily="34" charset="0"/>
                <a:ea typeface="Arial" pitchFamily="34" charset="-122"/>
                <a:cs typeface="Arial" pitchFamily="34" charset="-120"/>
              </a:rPr>
              <a:t>Evolus Business Agents on AMD</a:t>
            </a:r>
            <a:endParaRPr lang="en-US" sz="2200" dirty="0"/>
          </a:p>
        </p:txBody>
      </p:sp>
      <p:sp>
        <p:nvSpPr>
          <p:cNvPr id="9" name="Shape 7"/>
          <p:cNvSpPr/>
          <p:nvPr/>
        </p:nvSpPr>
        <p:spPr>
          <a:xfrm>
            <a:off x="566928" y="3520440"/>
            <a:ext cx="731520" cy="0"/>
          </a:xfrm>
          <a:prstGeom prst="line">
            <a:avLst/>
          </a:prstGeom>
          <a:noFill/>
          <a:ln w="38100">
            <a:solidFill>
              <a:srgbClr val="29877D"/>
            </a:solidFill>
            <a:prstDash val="solid"/>
          </a:ln>
        </p:spPr>
      </p:sp>
      <p:sp>
        <p:nvSpPr>
          <p:cNvPr id="10" name="Text 8"/>
          <p:cNvSpPr/>
          <p:nvPr/>
        </p:nvSpPr>
        <p:spPr>
          <a:xfrm>
            <a:off x="566928" y="3767328"/>
            <a:ext cx="5303520" cy="1371600"/>
          </a:xfrm>
          <a:prstGeom prst="rect">
            <a:avLst/>
          </a:prstGeom>
          <a:noFill/>
          <a:ln/>
        </p:spPr>
        <p:txBody>
          <a:bodyPr wrap="square" lIns="0" tIns="0" rIns="0" bIns="0" rtlCol="0" anchor="ctr"/>
          <a:lstStyle/>
          <a:p>
            <a:pPr indent="0" marL="0">
              <a:buNone/>
            </a:pPr>
            <a:r>
              <a:rPr lang="en-US" sz="2600" b="1" dirty="0">
                <a:solidFill>
                  <a:srgbClr val="183543"/>
                </a:solidFill>
                <a:latin typeface="Arial" pitchFamily="34" charset="0"/>
                <a:ea typeface="Arial" pitchFamily="34" charset="-122"/>
                <a:cs typeface="Arial" pitchFamily="34" charset="-120"/>
              </a:rPr>
              <a:t>We detect first.</a:t>
            </a:r>
            <a:endParaRPr lang="en-US" sz="2600" dirty="0"/>
          </a:p>
          <a:p>
            <a:pPr indent="0" marL="0">
              <a:buNone/>
            </a:pPr>
            <a:r>
              <a:rPr lang="en-US" sz="2600" b="1" dirty="0">
                <a:solidFill>
                  <a:srgbClr val="183543"/>
                </a:solidFill>
                <a:latin typeface="Arial" pitchFamily="34" charset="0"/>
                <a:ea typeface="Arial" pitchFamily="34" charset="-122"/>
                <a:cs typeface="Arial" pitchFamily="34" charset="-120"/>
              </a:rPr>
              <a:t>AI investigates second.</a:t>
            </a:r>
            <a:endParaRPr lang="en-US" sz="2600" dirty="0"/>
          </a:p>
          <a:p>
            <a:pPr indent="0" marL="0">
              <a:buNone/>
            </a:pPr>
            <a:r>
              <a:rPr lang="en-US" sz="2600" b="1" dirty="0">
                <a:solidFill>
                  <a:srgbClr val="183543"/>
                </a:solidFill>
                <a:latin typeface="Arial" pitchFamily="34" charset="0"/>
                <a:ea typeface="Arial" pitchFamily="34" charset="-122"/>
                <a:cs typeface="Arial" pitchFamily="34" charset="-120"/>
              </a:rPr>
              <a:t>Humans decide.</a:t>
            </a:r>
            <a:endParaRPr lang="en-US" sz="2600" dirty="0"/>
          </a:p>
        </p:txBody>
      </p:sp>
      <p:sp>
        <p:nvSpPr>
          <p:cNvPr id="11" name="Text 9"/>
          <p:cNvSpPr/>
          <p:nvPr/>
        </p:nvSpPr>
        <p:spPr>
          <a:xfrm>
            <a:off x="566928" y="5888736"/>
            <a:ext cx="3657600" cy="256032"/>
          </a:xfrm>
          <a:prstGeom prst="rect">
            <a:avLst/>
          </a:prstGeom>
          <a:noFill/>
          <a:ln/>
        </p:spPr>
        <p:txBody>
          <a:bodyPr wrap="square" lIns="0" tIns="0" rIns="0" bIns="0" rtlCol="0" anchor="ctr"/>
          <a:lstStyle/>
          <a:p>
            <a:pPr indent="0" marL="0">
              <a:buNone/>
            </a:pPr>
            <a:r>
              <a:rPr lang="en-US" sz="1600" dirty="0">
                <a:solidFill>
                  <a:srgbClr val="607D89"/>
                </a:solidFill>
                <a:latin typeface="Arial" pitchFamily="34" charset="0"/>
                <a:ea typeface="Arial" pitchFamily="34" charset="-122"/>
                <a:cs typeface="Arial" pitchFamily="34" charset="-120"/>
              </a:rPr>
              <a:t>Diego Turcios</a:t>
            </a:r>
            <a:endParaRPr lang="en-US" sz="1600" dirty="0"/>
          </a:p>
        </p:txBody>
      </p:sp>
      <p:sp>
        <p:nvSpPr>
          <p:cNvPr id="12" name="Shape 10"/>
          <p:cNvSpPr/>
          <p:nvPr/>
        </p:nvSpPr>
        <p:spPr>
          <a:xfrm>
            <a:off x="6519672" y="1042416"/>
            <a:ext cx="5138928" cy="5010912"/>
          </a:xfrm>
          <a:prstGeom prst="roundRect">
            <a:avLst>
              <a:gd name="adj" fmla="val 2190"/>
            </a:avLst>
          </a:prstGeom>
          <a:solidFill>
            <a:srgbClr val="FFFFFF"/>
          </a:solidFill>
          <a:ln w="10160">
            <a:solidFill>
              <a:srgbClr val="DCE7EA"/>
            </a:solidFill>
            <a:prstDash val="solid"/>
          </a:ln>
        </p:spPr>
      </p:sp>
      <p:sp>
        <p:nvSpPr>
          <p:cNvPr id="13" name="Shape 11"/>
          <p:cNvSpPr/>
          <p:nvPr/>
        </p:nvSpPr>
        <p:spPr>
          <a:xfrm>
            <a:off x="6729984" y="1280160"/>
            <a:ext cx="4389120" cy="320040"/>
          </a:xfrm>
          <a:prstGeom prst="roundRect">
            <a:avLst>
              <a:gd name="adj" fmla="val 20000"/>
            </a:avLst>
          </a:prstGeom>
          <a:solidFill>
            <a:srgbClr val="E5F3EE"/>
          </a:solidFill>
          <a:ln w="10160">
            <a:solidFill>
              <a:srgbClr val="E5F3EE"/>
            </a:solidFill>
            <a:prstDash val="solid"/>
          </a:ln>
        </p:spPr>
      </p:sp>
      <p:sp>
        <p:nvSpPr>
          <p:cNvPr id="14" name="Text 12"/>
          <p:cNvSpPr/>
          <p:nvPr/>
        </p:nvSpPr>
        <p:spPr>
          <a:xfrm>
            <a:off x="6839712" y="1307592"/>
            <a:ext cx="4169664" cy="256032"/>
          </a:xfrm>
          <a:prstGeom prst="rect">
            <a:avLst/>
          </a:prstGeom>
          <a:noFill/>
          <a:ln/>
        </p:spPr>
        <p:txBody>
          <a:bodyPr wrap="square" lIns="0" tIns="0" rIns="0" bIns="0" rtlCol="0" anchor="ctr"/>
          <a:lstStyle/>
          <a:p>
            <a:pPr indent="0" marL="0">
              <a:buNone/>
            </a:pPr>
            <a:r>
              <a:rPr lang="en-US" sz="1100" b="1" spc="100" kern="0" dirty="0">
                <a:solidFill>
                  <a:srgbClr val="29877D"/>
                </a:solidFill>
                <a:latin typeface="Arial" pitchFamily="34" charset="0"/>
                <a:ea typeface="Arial" pitchFamily="34" charset="-122"/>
                <a:cs typeface="Arial" pitchFamily="34" charset="-120"/>
              </a:rPr>
              <a:t>REAL PRODUCT / CNBS HONDURAS</a:t>
            </a:r>
            <a:endParaRPr lang="en-US" sz="1100" dirty="0"/>
          </a:p>
        </p:txBody>
      </p:sp>
      <p:pic>
        <p:nvPicPr>
          <p:cNvPr id="15" name="Image 0" descr="year-observed-context.png">    </p:cNvPr>
          <p:cNvPicPr>
            <a:picLocks noChangeAspect="1"/>
          </p:cNvPicPr>
          <p:nvPr/>
        </p:nvPicPr>
        <p:blipFill>
          <a:blip r:embed="rId1"/>
          <a:stretch>
            <a:fillRect/>
          </a:stretch>
        </p:blipFill>
        <p:spPr>
          <a:xfrm>
            <a:off x="6675120" y="1872824"/>
            <a:ext cx="4800600" cy="2710016"/>
          </a:xfrm>
          <a:prstGeom prst="rect">
            <a:avLst/>
          </a:prstGeom>
        </p:spPr>
      </p:pic>
      <p:pic>
        <p:nvPicPr>
          <p:cNvPr id="16" name="Image 1" descr="claims-metrics-crop.png">    </p:cNvPr>
          <p:cNvPicPr>
            <a:picLocks noChangeAspect="1"/>
          </p:cNvPicPr>
          <p:nvPr/>
        </p:nvPicPr>
        <p:blipFill>
          <a:blip r:embed="rId2"/>
          <a:stretch>
            <a:fillRect/>
          </a:stretch>
        </p:blipFill>
        <p:spPr>
          <a:xfrm>
            <a:off x="6865264" y="4645152"/>
            <a:ext cx="4420312" cy="11704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01 / THE PROBLEM</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Dashboards tell us what happened.</a:t>
            </a:r>
            <a:endParaRPr lang="en-US" sz="3100" dirty="0"/>
          </a:p>
          <a:p>
            <a:pPr indent="0" marL="0">
              <a:buNone/>
            </a:pPr>
            <a:r>
              <a:rPr lang="en-US" sz="3100" b="1" dirty="0">
                <a:solidFill>
                  <a:srgbClr val="183543"/>
                </a:solidFill>
                <a:latin typeface="Arial" pitchFamily="34" charset="0"/>
                <a:ea typeface="Arial" pitchFamily="34" charset="-122"/>
                <a:cs typeface="Arial" pitchFamily="34" charset="-120"/>
              </a:rPr>
              <a:t>We ask whether it was unusual.</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02</a:t>
            </a:r>
            <a:endParaRPr lang="en-US" sz="1000" dirty="0"/>
          </a:p>
        </p:txBody>
      </p:sp>
      <p:sp>
        <p:nvSpPr>
          <p:cNvPr id="8" name="Shape 6"/>
          <p:cNvSpPr/>
          <p:nvPr/>
        </p:nvSpPr>
        <p:spPr>
          <a:xfrm>
            <a:off x="548640" y="1947672"/>
            <a:ext cx="1508760" cy="320040"/>
          </a:xfrm>
          <a:prstGeom prst="roundRect">
            <a:avLst>
              <a:gd name="adj" fmla="val 20000"/>
            </a:avLst>
          </a:prstGeom>
          <a:solidFill>
            <a:srgbClr val="EAF2F4"/>
          </a:solidFill>
          <a:ln w="10160">
            <a:solidFill>
              <a:srgbClr val="EAF2F4"/>
            </a:solidFill>
            <a:prstDash val="solid"/>
          </a:ln>
        </p:spPr>
      </p:sp>
      <p:sp>
        <p:nvSpPr>
          <p:cNvPr id="9" name="Text 7"/>
          <p:cNvSpPr/>
          <p:nvPr/>
        </p:nvSpPr>
        <p:spPr>
          <a:xfrm>
            <a:off x="658368" y="1975104"/>
            <a:ext cx="1289304" cy="256032"/>
          </a:xfrm>
          <a:prstGeom prst="rect">
            <a:avLst/>
          </a:prstGeom>
          <a:noFill/>
          <a:ln/>
        </p:spPr>
        <p:txBody>
          <a:bodyPr wrap="square" lIns="0" tIns="0" rIns="0" bIns="0" rtlCol="0" anchor="ctr"/>
          <a:lstStyle/>
          <a:p>
            <a:pPr indent="0" marL="0">
              <a:buNone/>
            </a:pPr>
            <a:r>
              <a:rPr lang="en-US" sz="1100" b="1" spc="100" kern="0" dirty="0">
                <a:solidFill>
                  <a:srgbClr val="607D89"/>
                </a:solidFill>
                <a:latin typeface="Arial" pitchFamily="34" charset="0"/>
                <a:ea typeface="Arial" pitchFamily="34" charset="-122"/>
                <a:cs typeface="Arial" pitchFamily="34" charset="-120"/>
              </a:rPr>
              <a:t>TRADITIONAL</a:t>
            </a:r>
            <a:endParaRPr lang="en-US" sz="1100" dirty="0"/>
          </a:p>
        </p:txBody>
      </p:sp>
      <p:sp>
        <p:nvSpPr>
          <p:cNvPr id="10" name="Text 8"/>
          <p:cNvSpPr/>
          <p:nvPr/>
        </p:nvSpPr>
        <p:spPr>
          <a:xfrm>
            <a:off x="548640" y="2432304"/>
            <a:ext cx="3749040" cy="411480"/>
          </a:xfrm>
          <a:prstGeom prst="rect">
            <a:avLst/>
          </a:prstGeom>
          <a:noFill/>
          <a:ln/>
        </p:spPr>
        <p:txBody>
          <a:bodyPr wrap="square" lIns="0" tIns="0" rIns="0" bIns="0" rtlCol="0" anchor="ctr"/>
          <a:lstStyle/>
          <a:p>
            <a:pPr indent="0" marL="0">
              <a:buNone/>
            </a:pPr>
            <a:r>
              <a:rPr lang="en-US" sz="2500" dirty="0">
                <a:solidFill>
                  <a:srgbClr val="607D89"/>
                </a:solidFill>
                <a:latin typeface="Arial" pitchFamily="34" charset="0"/>
                <a:ea typeface="Arial" pitchFamily="34" charset="-122"/>
                <a:cs typeface="Arial" pitchFamily="34" charset="-120"/>
              </a:rPr>
              <a:t>“What happened?”</a:t>
            </a:r>
            <a:endParaRPr lang="en-US" sz="2500" dirty="0"/>
          </a:p>
        </p:txBody>
      </p:sp>
      <p:sp>
        <p:nvSpPr>
          <p:cNvPr id="11" name="Text 9"/>
          <p:cNvSpPr/>
          <p:nvPr/>
        </p:nvSpPr>
        <p:spPr>
          <a:xfrm>
            <a:off x="548640" y="3191256"/>
            <a:ext cx="4023360" cy="320040"/>
          </a:xfrm>
          <a:prstGeom prst="rect">
            <a:avLst/>
          </a:prstGeom>
          <a:noFill/>
          <a:ln/>
        </p:spPr>
        <p:txBody>
          <a:bodyPr wrap="square" lIns="0" tIns="0" rIns="0" bIns="0" rtlCol="0" anchor="ctr"/>
          <a:lstStyle/>
          <a:p>
            <a:pPr indent="0" marL="0">
              <a:buNone/>
            </a:pPr>
            <a:r>
              <a:rPr lang="en-US" sz="1600" b="1" dirty="0">
                <a:solidFill>
                  <a:srgbClr val="29877D"/>
                </a:solidFill>
                <a:latin typeface="Arial" pitchFamily="34" charset="0"/>
                <a:ea typeface="Arial" pitchFamily="34" charset="-122"/>
                <a:cs typeface="Arial" pitchFamily="34" charset="-120"/>
              </a:rPr>
              <a:t>A better next question</a:t>
            </a:r>
            <a:endParaRPr lang="en-US" sz="1600" dirty="0"/>
          </a:p>
        </p:txBody>
      </p:sp>
      <p:sp>
        <p:nvSpPr>
          <p:cNvPr id="12" name="Text 10"/>
          <p:cNvSpPr/>
          <p:nvPr/>
        </p:nvSpPr>
        <p:spPr>
          <a:xfrm>
            <a:off x="548640" y="3675888"/>
            <a:ext cx="3886200" cy="29260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What was expected?</a:t>
            </a:r>
            <a:endParaRPr lang="en-US" sz="1700" dirty="0"/>
          </a:p>
        </p:txBody>
      </p:sp>
      <p:sp>
        <p:nvSpPr>
          <p:cNvPr id="13" name="Text 11"/>
          <p:cNvSpPr/>
          <p:nvPr/>
        </p:nvSpPr>
        <p:spPr>
          <a:xfrm>
            <a:off x="548640" y="4096512"/>
            <a:ext cx="3886200" cy="29260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How different was reality?</a:t>
            </a:r>
            <a:endParaRPr lang="en-US" sz="1700" dirty="0"/>
          </a:p>
        </p:txBody>
      </p:sp>
      <p:sp>
        <p:nvSpPr>
          <p:cNvPr id="14" name="Text 12"/>
          <p:cNvSpPr/>
          <p:nvPr/>
        </p:nvSpPr>
        <p:spPr>
          <a:xfrm>
            <a:off x="548640" y="4517136"/>
            <a:ext cx="3886200" cy="29260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Was that difference unusual?</a:t>
            </a:r>
            <a:endParaRPr lang="en-US" sz="1700" dirty="0"/>
          </a:p>
        </p:txBody>
      </p:sp>
      <p:sp>
        <p:nvSpPr>
          <p:cNvPr id="15" name="Text 13"/>
          <p:cNvSpPr/>
          <p:nvPr/>
        </p:nvSpPr>
        <p:spPr>
          <a:xfrm>
            <a:off x="548640" y="4937760"/>
            <a:ext cx="3886200" cy="292608"/>
          </a:xfrm>
          <a:prstGeom prst="rect">
            <a:avLst/>
          </a:prstGeom>
          <a:noFill/>
          <a:ln/>
        </p:spPr>
        <p:txBody>
          <a:bodyPr wrap="square" lIns="0" tIns="0" rIns="0" bIns="0" rtlCol="0" anchor="ctr"/>
          <a:lstStyle/>
          <a:p>
            <a:pPr indent="0" marL="0">
              <a:buNone/>
            </a:pPr>
            <a:r>
              <a:rPr lang="en-US" sz="1700" b="1" dirty="0">
                <a:solidFill>
                  <a:srgbClr val="164E63"/>
                </a:solidFill>
                <a:latin typeface="Arial" pitchFamily="34" charset="0"/>
                <a:ea typeface="Arial" pitchFamily="34" charset="-122"/>
                <a:cs typeface="Arial" pitchFamily="34" charset="-120"/>
              </a:rPr>
              <a:t>What should we investigate?</a:t>
            </a:r>
            <a:endParaRPr lang="en-US" sz="1700" dirty="0"/>
          </a:p>
        </p:txBody>
      </p:sp>
      <p:pic>
        <p:nvPicPr>
          <p:cNvPr id="16" name="Image 0" descr="year-observed-context.png">    </p:cNvPr>
          <p:cNvPicPr>
            <a:picLocks noChangeAspect="1"/>
          </p:cNvPicPr>
          <p:nvPr/>
        </p:nvPicPr>
        <p:blipFill>
          <a:blip r:embed="rId1"/>
          <a:stretch>
            <a:fillRect/>
          </a:stretch>
        </p:blipFill>
        <p:spPr>
          <a:xfrm>
            <a:off x="4858077" y="1874520"/>
            <a:ext cx="6560167" cy="3703320"/>
          </a:xfrm>
          <a:prstGeom prst="rect">
            <a:avLst/>
          </a:prstGeom>
        </p:spPr>
      </p:pic>
      <p:sp>
        <p:nvSpPr>
          <p:cNvPr id="17" name="Shape 14"/>
          <p:cNvSpPr/>
          <p:nvPr/>
        </p:nvSpPr>
        <p:spPr>
          <a:xfrm>
            <a:off x="548640" y="5650992"/>
            <a:ext cx="11091672" cy="621792"/>
          </a:xfrm>
          <a:prstGeom prst="roundRect">
            <a:avLst>
              <a:gd name="adj" fmla="val 11765"/>
            </a:avLst>
          </a:prstGeom>
          <a:solidFill>
            <a:srgbClr val="EAF2F4"/>
          </a:solidFill>
          <a:ln w="10160">
            <a:solidFill>
              <a:srgbClr val="EAF2F4"/>
            </a:solidFill>
            <a:prstDash val="solid"/>
          </a:ln>
        </p:spPr>
      </p:sp>
      <p:sp>
        <p:nvSpPr>
          <p:cNvPr id="18" name="Text 15"/>
          <p:cNvSpPr/>
          <p:nvPr/>
        </p:nvSpPr>
        <p:spPr>
          <a:xfrm>
            <a:off x="722376" y="5733288"/>
            <a:ext cx="5303520" cy="164592"/>
          </a:xfrm>
          <a:prstGeom prst="rect">
            <a:avLst/>
          </a:prstGeom>
          <a:noFill/>
          <a:ln/>
        </p:spPr>
        <p:txBody>
          <a:bodyPr wrap="square" lIns="0" tIns="0" rIns="0" bIns="0" rtlCol="0" anchor="ctr"/>
          <a:lstStyle/>
          <a:p>
            <a:pPr indent="0" marL="0">
              <a:buNone/>
            </a:pPr>
            <a:r>
              <a:rPr lang="en-US" sz="900" b="1" spc="50" kern="0" dirty="0">
                <a:solidFill>
                  <a:srgbClr val="29877D"/>
                </a:solidFill>
                <a:latin typeface="Arial" pitchFamily="34" charset="0"/>
                <a:ea typeface="Arial" pitchFamily="34" charset="-122"/>
                <a:cs typeface="Arial" pitchFamily="34" charset="-120"/>
              </a:rPr>
              <a:t>MARCH 2025 · CLAIMS-TO-PREMIUMS RATIO</a:t>
            </a:r>
            <a:endParaRPr lang="en-US" sz="900" dirty="0"/>
          </a:p>
        </p:txBody>
      </p:sp>
      <p:sp>
        <p:nvSpPr>
          <p:cNvPr id="19" name="Text 16"/>
          <p:cNvSpPr/>
          <p:nvPr/>
        </p:nvSpPr>
        <p:spPr>
          <a:xfrm>
            <a:off x="722376" y="5961888"/>
            <a:ext cx="4937760" cy="210312"/>
          </a:xfrm>
          <a:prstGeom prst="rect">
            <a:avLst/>
          </a:prstGeom>
          <a:noFill/>
          <a:ln/>
        </p:spPr>
        <p:txBody>
          <a:bodyPr wrap="square" lIns="0" tIns="0" rIns="0" bIns="0" rtlCol="0" anchor="ctr"/>
          <a:lstStyle/>
          <a:p>
            <a:pPr indent="0" marL="0">
              <a:buNone/>
            </a:pPr>
            <a:r>
              <a:rPr lang="en-US" sz="1600" b="1" dirty="0">
                <a:solidFill>
                  <a:srgbClr val="183543"/>
                </a:solidFill>
                <a:latin typeface="Arial" pitchFamily="34" charset="0"/>
                <a:ea typeface="Arial" pitchFamily="34" charset="-122"/>
                <a:cs typeface="Arial" pitchFamily="34" charset="-120"/>
              </a:rPr>
              <a:t>Raw NORMAL → adjusted ALERT</a:t>
            </a:r>
            <a:endParaRPr lang="en-US" sz="1600" dirty="0"/>
          </a:p>
        </p:txBody>
      </p:sp>
      <p:sp>
        <p:nvSpPr>
          <p:cNvPr id="20" name="Text 17"/>
          <p:cNvSpPr/>
          <p:nvPr/>
        </p:nvSpPr>
        <p:spPr>
          <a:xfrm>
            <a:off x="6144768" y="5870448"/>
            <a:ext cx="5257800" cy="219456"/>
          </a:xfrm>
          <a:prstGeom prst="rect">
            <a:avLst/>
          </a:prstGeom>
          <a:noFill/>
          <a:ln/>
        </p:spPr>
        <p:txBody>
          <a:bodyPr wrap="square" lIns="0" tIns="0" rIns="0" bIns="0" rtlCol="0" anchor="ctr"/>
          <a:lstStyle/>
          <a:p>
            <a:pPr indent="0" marL="0">
              <a:buNone/>
            </a:pPr>
            <a:r>
              <a:rPr lang="en-US" sz="1300" dirty="0">
                <a:solidFill>
                  <a:srgbClr val="607D89"/>
                </a:solidFill>
                <a:latin typeface="Arial" pitchFamily="34" charset="0"/>
                <a:ea typeface="Arial" pitchFamily="34" charset="-122"/>
                <a:cs typeface="Arial" pitchFamily="34" charset="-120"/>
              </a:rPr>
              <a:t>63.91% vs 53.05% · +10.86 pp · z 8.61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02 / EXPLAINABLE DETECTION</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Detection happens before AI</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03</a:t>
            </a:r>
            <a:endParaRPr lang="en-US" sz="1000" dirty="0"/>
          </a:p>
        </p:txBody>
      </p:sp>
      <p:sp>
        <p:nvSpPr>
          <p:cNvPr id="8" name="Text 6"/>
          <p:cNvSpPr/>
          <p:nvPr/>
        </p:nvSpPr>
        <p:spPr>
          <a:xfrm>
            <a:off x="548640" y="1737360"/>
            <a:ext cx="10881360" cy="512064"/>
          </a:xfrm>
          <a:prstGeom prst="rect">
            <a:avLst/>
          </a:prstGeom>
          <a:noFill/>
          <a:ln/>
        </p:spPr>
        <p:txBody>
          <a:bodyPr wrap="square" lIns="0" tIns="0" rIns="0" bIns="0" rtlCol="0" anchor="ctr"/>
          <a:lstStyle/>
          <a:p>
            <a:pPr indent="0" marL="0">
              <a:buNone/>
            </a:pPr>
            <a:r>
              <a:rPr lang="en-US" sz="2200" dirty="0">
                <a:solidFill>
                  <a:srgbClr val="607D89"/>
                </a:solidFill>
                <a:latin typeface="Arial" pitchFamily="34" charset="0"/>
                <a:ea typeface="Arial" pitchFamily="34" charset="-122"/>
                <a:cs typeface="Arial" pitchFamily="34" charset="-120"/>
              </a:rPr>
              <a:t>We learn what normally happens. Then we measure whether reality was unusually different.</a:t>
            </a:r>
            <a:endParaRPr lang="en-US" sz="2200" dirty="0"/>
          </a:p>
        </p:txBody>
      </p:sp>
      <p:sp>
        <p:nvSpPr>
          <p:cNvPr id="9" name="Shape 7"/>
          <p:cNvSpPr/>
          <p:nvPr/>
        </p:nvSpPr>
        <p:spPr>
          <a:xfrm>
            <a:off x="548640" y="2670048"/>
            <a:ext cx="1993392" cy="1627632"/>
          </a:xfrm>
          <a:prstGeom prst="roundRect">
            <a:avLst>
              <a:gd name="adj" fmla="val 6742"/>
            </a:avLst>
          </a:prstGeom>
          <a:solidFill>
            <a:srgbClr val="FFFFFF"/>
          </a:solidFill>
          <a:ln w="10160">
            <a:solidFill>
              <a:srgbClr val="DCE7EA"/>
            </a:solidFill>
            <a:prstDash val="solid"/>
          </a:ln>
        </p:spPr>
      </p:sp>
      <p:sp>
        <p:nvSpPr>
          <p:cNvPr id="10" name="Text 8"/>
          <p:cNvSpPr/>
          <p:nvPr/>
        </p:nvSpPr>
        <p:spPr>
          <a:xfrm>
            <a:off x="713232" y="2834640"/>
            <a:ext cx="1645920" cy="228600"/>
          </a:xfrm>
          <a:prstGeom prst="rect">
            <a:avLst/>
          </a:prstGeom>
          <a:noFill/>
          <a:ln/>
        </p:spPr>
        <p:txBody>
          <a:bodyPr wrap="square" lIns="0" tIns="0" rIns="0" bIns="0" rtlCol="0" anchor="ctr"/>
          <a:lstStyle/>
          <a:p>
            <a:pPr indent="0" marL="0">
              <a:buNone/>
            </a:pPr>
            <a:r>
              <a:rPr lang="en-US" sz="1200" b="1" dirty="0">
                <a:solidFill>
                  <a:srgbClr val="29877D"/>
                </a:solidFill>
                <a:latin typeface="Arial" pitchFamily="34" charset="0"/>
                <a:ea typeface="Arial" pitchFamily="34" charset="-122"/>
                <a:cs typeface="Arial" pitchFamily="34" charset="-120"/>
              </a:rPr>
              <a:t>01</a:t>
            </a:r>
            <a:endParaRPr lang="en-US" sz="1200" dirty="0"/>
          </a:p>
        </p:txBody>
      </p:sp>
      <p:sp>
        <p:nvSpPr>
          <p:cNvPr id="11" name="Text 9"/>
          <p:cNvSpPr/>
          <p:nvPr/>
        </p:nvSpPr>
        <p:spPr>
          <a:xfrm>
            <a:off x="713232" y="3227832"/>
            <a:ext cx="1682496" cy="393192"/>
          </a:xfrm>
          <a:prstGeom prst="rect">
            <a:avLst/>
          </a:prstGeom>
          <a:noFill/>
          <a:ln/>
        </p:spPr>
        <p:txBody>
          <a:bodyPr wrap="square" lIns="0" tIns="0" rIns="0" bIns="0" rtlCol="0" anchor="ctr"/>
          <a:lstStyle/>
          <a:p>
            <a:pPr indent="0" marL="0">
              <a:buNone/>
            </a:pPr>
            <a:r>
              <a:rPr lang="en-US" sz="1800" b="1" dirty="0">
                <a:solidFill>
                  <a:srgbClr val="183543"/>
                </a:solidFill>
                <a:latin typeface="Arial" pitchFamily="34" charset="0"/>
                <a:ea typeface="Arial" pitchFamily="34" charset="-122"/>
                <a:cs typeface="Arial" pitchFamily="34" charset="-120"/>
              </a:rPr>
              <a:t>Prior history</a:t>
            </a:r>
            <a:endParaRPr lang="en-US" sz="1800" dirty="0"/>
          </a:p>
        </p:txBody>
      </p:sp>
      <p:sp>
        <p:nvSpPr>
          <p:cNvPr id="12" name="Text 10"/>
          <p:cNvSpPr/>
          <p:nvPr/>
        </p:nvSpPr>
        <p:spPr>
          <a:xfrm>
            <a:off x="713232" y="3803904"/>
            <a:ext cx="1682496" cy="39319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Previously available</a:t>
            </a:r>
            <a:endParaRPr lang="en-US" sz="1200" dirty="0"/>
          </a:p>
          <a:p>
            <a:pPr indent="0" marL="0">
              <a:buNone/>
            </a:pPr>
            <a:r>
              <a:rPr lang="en-US" sz="1200" dirty="0">
                <a:solidFill>
                  <a:srgbClr val="607D89"/>
                </a:solidFill>
                <a:latin typeface="Arial" pitchFamily="34" charset="0"/>
                <a:ea typeface="Arial" pitchFamily="34" charset="-122"/>
                <a:cs typeface="Arial" pitchFamily="34" charset="-120"/>
              </a:rPr>
              <a:t>monthly observations</a:t>
            </a:r>
            <a:endParaRPr lang="en-US" sz="1200" dirty="0"/>
          </a:p>
        </p:txBody>
      </p:sp>
      <p:sp>
        <p:nvSpPr>
          <p:cNvPr id="13" name="Text 11"/>
          <p:cNvSpPr/>
          <p:nvPr/>
        </p:nvSpPr>
        <p:spPr>
          <a:xfrm>
            <a:off x="2560320" y="3346704"/>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2816352" y="2670048"/>
            <a:ext cx="1993392" cy="1627632"/>
          </a:xfrm>
          <a:prstGeom prst="roundRect">
            <a:avLst>
              <a:gd name="adj" fmla="val 6742"/>
            </a:avLst>
          </a:prstGeom>
          <a:solidFill>
            <a:srgbClr val="FFFFFF"/>
          </a:solidFill>
          <a:ln w="10160">
            <a:solidFill>
              <a:srgbClr val="DCE7EA"/>
            </a:solidFill>
            <a:prstDash val="solid"/>
          </a:ln>
        </p:spPr>
      </p:sp>
      <p:sp>
        <p:nvSpPr>
          <p:cNvPr id="15" name="Text 13"/>
          <p:cNvSpPr/>
          <p:nvPr/>
        </p:nvSpPr>
        <p:spPr>
          <a:xfrm>
            <a:off x="2980944" y="2834640"/>
            <a:ext cx="1645920" cy="228600"/>
          </a:xfrm>
          <a:prstGeom prst="rect">
            <a:avLst/>
          </a:prstGeom>
          <a:noFill/>
          <a:ln/>
        </p:spPr>
        <p:txBody>
          <a:bodyPr wrap="square" lIns="0" tIns="0" rIns="0" bIns="0" rtlCol="0" anchor="ctr"/>
          <a:lstStyle/>
          <a:p>
            <a:pPr indent="0" marL="0">
              <a:buNone/>
            </a:pPr>
            <a:r>
              <a:rPr lang="en-US" sz="1200" b="1" dirty="0">
                <a:solidFill>
                  <a:srgbClr val="29877D"/>
                </a:solidFill>
                <a:latin typeface="Arial" pitchFamily="34" charset="0"/>
                <a:ea typeface="Arial" pitchFamily="34" charset="-122"/>
                <a:cs typeface="Arial" pitchFamily="34" charset="-120"/>
              </a:rPr>
              <a:t>02</a:t>
            </a:r>
            <a:endParaRPr lang="en-US" sz="1200" dirty="0"/>
          </a:p>
        </p:txBody>
      </p:sp>
      <p:sp>
        <p:nvSpPr>
          <p:cNvPr id="16" name="Text 14"/>
          <p:cNvSpPr/>
          <p:nvPr/>
        </p:nvSpPr>
        <p:spPr>
          <a:xfrm>
            <a:off x="2980944" y="3127248"/>
            <a:ext cx="1682496" cy="585216"/>
          </a:xfrm>
          <a:prstGeom prst="rect">
            <a:avLst/>
          </a:prstGeom>
          <a:noFill/>
          <a:ln/>
        </p:spPr>
        <p:txBody>
          <a:bodyPr wrap="square" lIns="0" tIns="0" rIns="0" bIns="0" rtlCol="0" anchor="ctr"/>
          <a:lstStyle/>
          <a:p>
            <a:pPr indent="0" marL="0">
              <a:buNone/>
            </a:pPr>
            <a:r>
              <a:rPr lang="en-US" sz="1700" b="1" dirty="0">
                <a:solidFill>
                  <a:srgbClr val="183543"/>
                </a:solidFill>
                <a:latin typeface="Arial" pitchFamily="34" charset="0"/>
                <a:ea typeface="Arial" pitchFamily="34" charset="-122"/>
                <a:cs typeface="Arial" pitchFamily="34" charset="-120"/>
              </a:rPr>
              <a:t>Trend +</a:t>
            </a:r>
            <a:endParaRPr lang="en-US" sz="1700" dirty="0"/>
          </a:p>
          <a:p>
            <a:pPr indent="0" marL="0">
              <a:buNone/>
            </a:pPr>
            <a:r>
              <a:rPr lang="en-US" sz="1700" b="1" dirty="0">
                <a:solidFill>
                  <a:srgbClr val="183543"/>
                </a:solidFill>
                <a:latin typeface="Arial" pitchFamily="34" charset="0"/>
                <a:ea typeface="Arial" pitchFamily="34" charset="-122"/>
                <a:cs typeface="Arial" pitchFamily="34" charset="-120"/>
              </a:rPr>
              <a:t>seasonality</a:t>
            </a:r>
            <a:endParaRPr lang="en-US" sz="1700" dirty="0"/>
          </a:p>
        </p:txBody>
      </p:sp>
      <p:sp>
        <p:nvSpPr>
          <p:cNvPr id="17" name="Text 15"/>
          <p:cNvSpPr/>
          <p:nvPr/>
        </p:nvSpPr>
        <p:spPr>
          <a:xfrm>
            <a:off x="2980944" y="3803904"/>
            <a:ext cx="1682496" cy="39319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Direction + recurring</a:t>
            </a:r>
            <a:endParaRPr lang="en-US" sz="1200" dirty="0"/>
          </a:p>
          <a:p>
            <a:pPr indent="0" marL="0">
              <a:buNone/>
            </a:pPr>
            <a:r>
              <a:rPr lang="en-US" sz="1200" dirty="0">
                <a:solidFill>
                  <a:srgbClr val="607D89"/>
                </a:solidFill>
                <a:latin typeface="Arial" pitchFamily="34" charset="0"/>
                <a:ea typeface="Arial" pitchFamily="34" charset="-122"/>
                <a:cs typeface="Arial" pitchFamily="34" charset="-120"/>
              </a:rPr>
              <a:t>monthly patterns</a:t>
            </a:r>
            <a:endParaRPr lang="en-US" sz="1200" dirty="0"/>
          </a:p>
        </p:txBody>
      </p:sp>
      <p:sp>
        <p:nvSpPr>
          <p:cNvPr id="18" name="Text 16"/>
          <p:cNvSpPr/>
          <p:nvPr/>
        </p:nvSpPr>
        <p:spPr>
          <a:xfrm>
            <a:off x="4828032" y="3346704"/>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5084064" y="2670048"/>
            <a:ext cx="1993392" cy="1627632"/>
          </a:xfrm>
          <a:prstGeom prst="roundRect">
            <a:avLst>
              <a:gd name="adj" fmla="val 6742"/>
            </a:avLst>
          </a:prstGeom>
          <a:solidFill>
            <a:srgbClr val="FFFFFF"/>
          </a:solidFill>
          <a:ln w="10160">
            <a:solidFill>
              <a:srgbClr val="DCE7EA"/>
            </a:solidFill>
            <a:prstDash val="solid"/>
          </a:ln>
        </p:spPr>
      </p:sp>
      <p:sp>
        <p:nvSpPr>
          <p:cNvPr id="20" name="Text 18"/>
          <p:cNvSpPr/>
          <p:nvPr/>
        </p:nvSpPr>
        <p:spPr>
          <a:xfrm>
            <a:off x="5248656" y="2834640"/>
            <a:ext cx="1645920" cy="228600"/>
          </a:xfrm>
          <a:prstGeom prst="rect">
            <a:avLst/>
          </a:prstGeom>
          <a:noFill/>
          <a:ln/>
        </p:spPr>
        <p:txBody>
          <a:bodyPr wrap="square" lIns="0" tIns="0" rIns="0" bIns="0" rtlCol="0" anchor="ctr"/>
          <a:lstStyle/>
          <a:p>
            <a:pPr indent="0" marL="0">
              <a:buNone/>
            </a:pPr>
            <a:r>
              <a:rPr lang="en-US" sz="1200" b="1" dirty="0">
                <a:solidFill>
                  <a:srgbClr val="29877D"/>
                </a:solidFill>
                <a:latin typeface="Arial" pitchFamily="34" charset="0"/>
                <a:ea typeface="Arial" pitchFamily="34" charset="-122"/>
                <a:cs typeface="Arial" pitchFamily="34" charset="-120"/>
              </a:rPr>
              <a:t>03</a:t>
            </a:r>
            <a:endParaRPr lang="en-US" sz="1200" dirty="0"/>
          </a:p>
        </p:txBody>
      </p:sp>
      <p:sp>
        <p:nvSpPr>
          <p:cNvPr id="21" name="Text 19"/>
          <p:cNvSpPr/>
          <p:nvPr/>
        </p:nvSpPr>
        <p:spPr>
          <a:xfrm>
            <a:off x="5248656" y="3227832"/>
            <a:ext cx="1682496" cy="393192"/>
          </a:xfrm>
          <a:prstGeom prst="rect">
            <a:avLst/>
          </a:prstGeom>
          <a:noFill/>
          <a:ln/>
        </p:spPr>
        <p:txBody>
          <a:bodyPr wrap="square" lIns="0" tIns="0" rIns="0" bIns="0" rtlCol="0" anchor="ctr"/>
          <a:lstStyle/>
          <a:p>
            <a:pPr indent="0" marL="0">
              <a:buNone/>
            </a:pPr>
            <a:r>
              <a:rPr lang="en-US" sz="1800" b="1" dirty="0">
                <a:solidFill>
                  <a:srgbClr val="183543"/>
                </a:solidFill>
                <a:latin typeface="Arial" pitchFamily="34" charset="0"/>
                <a:ea typeface="Arial" pitchFamily="34" charset="-122"/>
                <a:cs typeface="Arial" pitchFamily="34" charset="-120"/>
              </a:rPr>
              <a:t>Expected</a:t>
            </a:r>
            <a:endParaRPr lang="en-US" sz="1800" dirty="0"/>
          </a:p>
        </p:txBody>
      </p:sp>
      <p:sp>
        <p:nvSpPr>
          <p:cNvPr id="22" name="Text 20"/>
          <p:cNvSpPr/>
          <p:nvPr/>
        </p:nvSpPr>
        <p:spPr>
          <a:xfrm>
            <a:off x="5248656" y="3803904"/>
            <a:ext cx="1682496" cy="39319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A reference for</a:t>
            </a:r>
            <a:endParaRPr lang="en-US" sz="1200" dirty="0"/>
          </a:p>
          <a:p>
            <a:pPr indent="0" marL="0">
              <a:buNone/>
            </a:pPr>
            <a:r>
              <a:rPr lang="en-US" sz="1200" dirty="0">
                <a:solidFill>
                  <a:srgbClr val="607D89"/>
                </a:solidFill>
                <a:latin typeface="Arial" pitchFamily="34" charset="0"/>
                <a:ea typeface="Arial" pitchFamily="34" charset="-122"/>
                <a:cs typeface="Arial" pitchFamily="34" charset="-120"/>
              </a:rPr>
              <a:t>this reporting month</a:t>
            </a:r>
            <a:endParaRPr lang="en-US" sz="1200" dirty="0"/>
          </a:p>
        </p:txBody>
      </p:sp>
      <p:sp>
        <p:nvSpPr>
          <p:cNvPr id="23" name="Text 21"/>
          <p:cNvSpPr/>
          <p:nvPr/>
        </p:nvSpPr>
        <p:spPr>
          <a:xfrm>
            <a:off x="7095744" y="3346704"/>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24" name="Shape 22"/>
          <p:cNvSpPr/>
          <p:nvPr/>
        </p:nvSpPr>
        <p:spPr>
          <a:xfrm>
            <a:off x="7351776" y="2670048"/>
            <a:ext cx="1993392" cy="1627632"/>
          </a:xfrm>
          <a:prstGeom prst="roundRect">
            <a:avLst>
              <a:gd name="adj" fmla="val 6742"/>
            </a:avLst>
          </a:prstGeom>
          <a:solidFill>
            <a:srgbClr val="FFFFFF"/>
          </a:solidFill>
          <a:ln w="10160">
            <a:solidFill>
              <a:srgbClr val="DCE7EA"/>
            </a:solidFill>
            <a:prstDash val="solid"/>
          </a:ln>
        </p:spPr>
      </p:sp>
      <p:sp>
        <p:nvSpPr>
          <p:cNvPr id="25" name="Text 23"/>
          <p:cNvSpPr/>
          <p:nvPr/>
        </p:nvSpPr>
        <p:spPr>
          <a:xfrm>
            <a:off x="7516368" y="2834640"/>
            <a:ext cx="1645920" cy="228600"/>
          </a:xfrm>
          <a:prstGeom prst="rect">
            <a:avLst/>
          </a:prstGeom>
          <a:noFill/>
          <a:ln/>
        </p:spPr>
        <p:txBody>
          <a:bodyPr wrap="square" lIns="0" tIns="0" rIns="0" bIns="0" rtlCol="0" anchor="ctr"/>
          <a:lstStyle/>
          <a:p>
            <a:pPr indent="0" marL="0">
              <a:buNone/>
            </a:pPr>
            <a:r>
              <a:rPr lang="en-US" sz="1200" b="1" dirty="0">
                <a:solidFill>
                  <a:srgbClr val="29877D"/>
                </a:solidFill>
                <a:latin typeface="Arial" pitchFamily="34" charset="0"/>
                <a:ea typeface="Arial" pitchFamily="34" charset="-122"/>
                <a:cs typeface="Arial" pitchFamily="34" charset="-120"/>
              </a:rPr>
              <a:t>04</a:t>
            </a:r>
            <a:endParaRPr lang="en-US" sz="1200" dirty="0"/>
          </a:p>
        </p:txBody>
      </p:sp>
      <p:sp>
        <p:nvSpPr>
          <p:cNvPr id="26" name="Text 24"/>
          <p:cNvSpPr/>
          <p:nvPr/>
        </p:nvSpPr>
        <p:spPr>
          <a:xfrm>
            <a:off x="7516368" y="3227832"/>
            <a:ext cx="1682496" cy="393192"/>
          </a:xfrm>
          <a:prstGeom prst="rect">
            <a:avLst/>
          </a:prstGeom>
          <a:noFill/>
          <a:ln/>
        </p:spPr>
        <p:txBody>
          <a:bodyPr wrap="square" lIns="0" tIns="0" rIns="0" bIns="0" rtlCol="0" anchor="ctr"/>
          <a:lstStyle/>
          <a:p>
            <a:pPr indent="0" marL="0">
              <a:buNone/>
            </a:pPr>
            <a:r>
              <a:rPr lang="en-US" sz="1800" b="1" dirty="0">
                <a:solidFill>
                  <a:srgbClr val="183543"/>
                </a:solidFill>
                <a:latin typeface="Arial" pitchFamily="34" charset="0"/>
                <a:ea typeface="Arial" pitchFamily="34" charset="-122"/>
                <a:cs typeface="Arial" pitchFamily="34" charset="-120"/>
              </a:rPr>
              <a:t>Difference</a:t>
            </a:r>
            <a:endParaRPr lang="en-US" sz="1800" dirty="0"/>
          </a:p>
        </p:txBody>
      </p:sp>
      <p:sp>
        <p:nvSpPr>
          <p:cNvPr id="27" name="Text 25"/>
          <p:cNvSpPr/>
          <p:nvPr/>
        </p:nvSpPr>
        <p:spPr>
          <a:xfrm>
            <a:off x="7516368" y="3803904"/>
            <a:ext cx="1682496" cy="39319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Observed − Expected</a:t>
            </a:r>
            <a:endParaRPr lang="en-US" sz="1200" dirty="0"/>
          </a:p>
          <a:p>
            <a:pPr indent="0" marL="0">
              <a:buNone/>
            </a:pPr>
            <a:r>
              <a:rPr lang="en-US" sz="1200" dirty="0">
                <a:solidFill>
                  <a:srgbClr val="607D89"/>
                </a:solidFill>
                <a:latin typeface="Arial" pitchFamily="34" charset="0"/>
                <a:ea typeface="Arial" pitchFamily="34" charset="-122"/>
                <a:cs typeface="Arial" pitchFamily="34" charset="-120"/>
              </a:rPr>
              <a:t>(the residual)</a:t>
            </a:r>
            <a:endParaRPr lang="en-US" sz="1200" dirty="0"/>
          </a:p>
        </p:txBody>
      </p:sp>
      <p:sp>
        <p:nvSpPr>
          <p:cNvPr id="28" name="Text 26"/>
          <p:cNvSpPr/>
          <p:nvPr/>
        </p:nvSpPr>
        <p:spPr>
          <a:xfrm>
            <a:off x="9363456" y="3346704"/>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29" name="Shape 27"/>
          <p:cNvSpPr/>
          <p:nvPr/>
        </p:nvSpPr>
        <p:spPr>
          <a:xfrm>
            <a:off x="9619488" y="2670048"/>
            <a:ext cx="1993392" cy="1627632"/>
          </a:xfrm>
          <a:prstGeom prst="roundRect">
            <a:avLst>
              <a:gd name="adj" fmla="val 6742"/>
            </a:avLst>
          </a:prstGeom>
          <a:solidFill>
            <a:srgbClr val="FFFFFF"/>
          </a:solidFill>
          <a:ln w="10160">
            <a:solidFill>
              <a:srgbClr val="DCE7EA"/>
            </a:solidFill>
            <a:prstDash val="solid"/>
          </a:ln>
        </p:spPr>
      </p:sp>
      <p:sp>
        <p:nvSpPr>
          <p:cNvPr id="30" name="Text 28"/>
          <p:cNvSpPr/>
          <p:nvPr/>
        </p:nvSpPr>
        <p:spPr>
          <a:xfrm>
            <a:off x="9784080" y="2834640"/>
            <a:ext cx="1645920" cy="228600"/>
          </a:xfrm>
          <a:prstGeom prst="rect">
            <a:avLst/>
          </a:prstGeom>
          <a:noFill/>
          <a:ln/>
        </p:spPr>
        <p:txBody>
          <a:bodyPr wrap="square" lIns="0" tIns="0" rIns="0" bIns="0" rtlCol="0" anchor="ctr"/>
          <a:lstStyle/>
          <a:p>
            <a:pPr indent="0" marL="0">
              <a:buNone/>
            </a:pPr>
            <a:r>
              <a:rPr lang="en-US" sz="1200" b="1" dirty="0">
                <a:solidFill>
                  <a:srgbClr val="29877D"/>
                </a:solidFill>
                <a:latin typeface="Arial" pitchFamily="34" charset="0"/>
                <a:ea typeface="Arial" pitchFamily="34" charset="-122"/>
                <a:cs typeface="Arial" pitchFamily="34" charset="-120"/>
              </a:rPr>
              <a:t>05</a:t>
            </a:r>
            <a:endParaRPr lang="en-US" sz="1200" dirty="0"/>
          </a:p>
        </p:txBody>
      </p:sp>
      <p:sp>
        <p:nvSpPr>
          <p:cNvPr id="31" name="Text 29"/>
          <p:cNvSpPr/>
          <p:nvPr/>
        </p:nvSpPr>
        <p:spPr>
          <a:xfrm>
            <a:off x="9784080" y="3227832"/>
            <a:ext cx="1682496" cy="393192"/>
          </a:xfrm>
          <a:prstGeom prst="rect">
            <a:avLst/>
          </a:prstGeom>
          <a:noFill/>
          <a:ln/>
        </p:spPr>
        <p:txBody>
          <a:bodyPr wrap="square" lIns="0" tIns="0" rIns="0" bIns="0" rtlCol="0" anchor="ctr"/>
          <a:lstStyle/>
          <a:p>
            <a:pPr indent="0" marL="0">
              <a:buNone/>
            </a:pPr>
            <a:r>
              <a:rPr lang="en-US" sz="1800" b="1" dirty="0">
                <a:solidFill>
                  <a:srgbClr val="183543"/>
                </a:solidFill>
                <a:latin typeface="Arial" pitchFamily="34" charset="0"/>
                <a:ea typeface="Arial" pitchFamily="34" charset="-122"/>
                <a:cs typeface="Arial" pitchFamily="34" charset="-120"/>
              </a:rPr>
              <a:t>Robust Z</a:t>
            </a:r>
            <a:endParaRPr lang="en-US" sz="1800" dirty="0"/>
          </a:p>
        </p:txBody>
      </p:sp>
      <p:sp>
        <p:nvSpPr>
          <p:cNvPr id="32" name="Text 30"/>
          <p:cNvSpPr/>
          <p:nvPr/>
        </p:nvSpPr>
        <p:spPr>
          <a:xfrm>
            <a:off x="9784080" y="3803904"/>
            <a:ext cx="1682496" cy="39319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How unusual is</a:t>
            </a:r>
            <a:endParaRPr lang="en-US" sz="1200" dirty="0"/>
          </a:p>
          <a:p>
            <a:pPr indent="0" marL="0">
              <a:buNone/>
            </a:pPr>
            <a:r>
              <a:rPr lang="en-US" sz="1200" dirty="0">
                <a:solidFill>
                  <a:srgbClr val="607D89"/>
                </a:solidFill>
                <a:latin typeface="Arial" pitchFamily="34" charset="0"/>
                <a:ea typeface="Arial" pitchFamily="34" charset="-122"/>
                <a:cs typeface="Arial" pitchFamily="34" charset="-120"/>
              </a:rPr>
              <a:t>that difference?</a:t>
            </a:r>
            <a:endParaRPr lang="en-US" sz="1200" dirty="0"/>
          </a:p>
        </p:txBody>
      </p:sp>
      <p:sp>
        <p:nvSpPr>
          <p:cNvPr id="33" name="Shape 31"/>
          <p:cNvSpPr/>
          <p:nvPr/>
        </p:nvSpPr>
        <p:spPr>
          <a:xfrm>
            <a:off x="3017520" y="4599432"/>
            <a:ext cx="1325880" cy="320040"/>
          </a:xfrm>
          <a:prstGeom prst="roundRect">
            <a:avLst>
              <a:gd name="adj" fmla="val 20000"/>
            </a:avLst>
          </a:prstGeom>
          <a:solidFill>
            <a:srgbClr val="E5F3EE"/>
          </a:solidFill>
          <a:ln w="10160">
            <a:solidFill>
              <a:srgbClr val="E5F3EE"/>
            </a:solidFill>
            <a:prstDash val="solid"/>
          </a:ln>
        </p:spPr>
      </p:sp>
      <p:sp>
        <p:nvSpPr>
          <p:cNvPr id="34" name="Text 32"/>
          <p:cNvSpPr/>
          <p:nvPr/>
        </p:nvSpPr>
        <p:spPr>
          <a:xfrm>
            <a:off x="3127248" y="4626864"/>
            <a:ext cx="1106424" cy="256032"/>
          </a:xfrm>
          <a:prstGeom prst="rect">
            <a:avLst/>
          </a:prstGeom>
          <a:noFill/>
          <a:ln/>
        </p:spPr>
        <p:txBody>
          <a:bodyPr wrap="square" lIns="0" tIns="0" rIns="0" bIns="0" rtlCol="0" anchor="ctr"/>
          <a:lstStyle/>
          <a:p>
            <a:pPr indent="0" marL="0">
              <a:buNone/>
            </a:pPr>
            <a:r>
              <a:rPr lang="en-US" sz="1100" b="1" spc="100" kern="0" dirty="0">
                <a:solidFill>
                  <a:srgbClr val="29877D"/>
                </a:solidFill>
                <a:latin typeface="Arial" pitchFamily="34" charset="0"/>
                <a:ea typeface="Arial" pitchFamily="34" charset="-122"/>
                <a:cs typeface="Arial" pitchFamily="34" charset="-120"/>
              </a:rPr>
              <a:t>NORMAL</a:t>
            </a:r>
            <a:endParaRPr lang="en-US" sz="1100" dirty="0"/>
          </a:p>
        </p:txBody>
      </p:sp>
      <p:sp>
        <p:nvSpPr>
          <p:cNvPr id="35" name="Shape 33"/>
          <p:cNvSpPr/>
          <p:nvPr/>
        </p:nvSpPr>
        <p:spPr>
          <a:xfrm>
            <a:off x="4572000" y="4599432"/>
            <a:ext cx="1325880" cy="320040"/>
          </a:xfrm>
          <a:prstGeom prst="roundRect">
            <a:avLst>
              <a:gd name="adj" fmla="val 20000"/>
            </a:avLst>
          </a:prstGeom>
          <a:solidFill>
            <a:srgbClr val="FBF3E3"/>
          </a:solidFill>
          <a:ln w="10160">
            <a:solidFill>
              <a:srgbClr val="FBF3E3"/>
            </a:solidFill>
            <a:prstDash val="solid"/>
          </a:ln>
        </p:spPr>
      </p:sp>
      <p:sp>
        <p:nvSpPr>
          <p:cNvPr id="36" name="Text 34"/>
          <p:cNvSpPr/>
          <p:nvPr/>
        </p:nvSpPr>
        <p:spPr>
          <a:xfrm>
            <a:off x="4681728" y="4626864"/>
            <a:ext cx="1106424" cy="256032"/>
          </a:xfrm>
          <a:prstGeom prst="rect">
            <a:avLst/>
          </a:prstGeom>
          <a:noFill/>
          <a:ln/>
        </p:spPr>
        <p:txBody>
          <a:bodyPr wrap="square" lIns="0" tIns="0" rIns="0" bIns="0" rtlCol="0" anchor="ctr"/>
          <a:lstStyle/>
          <a:p>
            <a:pPr indent="0" marL="0">
              <a:buNone/>
            </a:pPr>
            <a:r>
              <a:rPr lang="en-US" sz="1100" b="1" spc="100" kern="0" dirty="0">
                <a:solidFill>
                  <a:srgbClr val="A97A28"/>
                </a:solidFill>
                <a:latin typeface="Arial" pitchFamily="34" charset="0"/>
                <a:ea typeface="Arial" pitchFamily="34" charset="-122"/>
                <a:cs typeface="Arial" pitchFamily="34" charset="-120"/>
              </a:rPr>
              <a:t>WATCH</a:t>
            </a:r>
            <a:endParaRPr lang="en-US" sz="1100" dirty="0"/>
          </a:p>
        </p:txBody>
      </p:sp>
      <p:sp>
        <p:nvSpPr>
          <p:cNvPr id="37" name="Shape 35"/>
          <p:cNvSpPr/>
          <p:nvPr/>
        </p:nvSpPr>
        <p:spPr>
          <a:xfrm>
            <a:off x="6126480" y="4599432"/>
            <a:ext cx="1325880" cy="320040"/>
          </a:xfrm>
          <a:prstGeom prst="roundRect">
            <a:avLst>
              <a:gd name="adj" fmla="val 20000"/>
            </a:avLst>
          </a:prstGeom>
          <a:solidFill>
            <a:srgbClr val="FBECEA"/>
          </a:solidFill>
          <a:ln w="10160">
            <a:solidFill>
              <a:srgbClr val="FBECEA"/>
            </a:solidFill>
            <a:prstDash val="solid"/>
          </a:ln>
        </p:spPr>
      </p:sp>
      <p:sp>
        <p:nvSpPr>
          <p:cNvPr id="38" name="Text 36"/>
          <p:cNvSpPr/>
          <p:nvPr/>
        </p:nvSpPr>
        <p:spPr>
          <a:xfrm>
            <a:off x="6236208" y="4626864"/>
            <a:ext cx="1106424" cy="256032"/>
          </a:xfrm>
          <a:prstGeom prst="rect">
            <a:avLst/>
          </a:prstGeom>
          <a:noFill/>
          <a:ln/>
        </p:spPr>
        <p:txBody>
          <a:bodyPr wrap="square" lIns="0" tIns="0" rIns="0" bIns="0" rtlCol="0" anchor="ctr"/>
          <a:lstStyle/>
          <a:p>
            <a:pPr indent="0" marL="0">
              <a:buNone/>
            </a:pPr>
            <a:r>
              <a:rPr lang="en-US" sz="1100" b="1" spc="100" kern="0" dirty="0">
                <a:solidFill>
                  <a:srgbClr val="C8544B"/>
                </a:solidFill>
                <a:latin typeface="Arial" pitchFamily="34" charset="0"/>
                <a:ea typeface="Arial" pitchFamily="34" charset="-122"/>
                <a:cs typeface="Arial" pitchFamily="34" charset="-120"/>
              </a:rPr>
              <a:t>ALERT</a:t>
            </a:r>
            <a:endParaRPr lang="en-US" sz="1100" dirty="0"/>
          </a:p>
        </p:txBody>
      </p:sp>
      <p:sp>
        <p:nvSpPr>
          <p:cNvPr id="39" name="Text 37"/>
          <p:cNvSpPr/>
          <p:nvPr/>
        </p:nvSpPr>
        <p:spPr>
          <a:xfrm>
            <a:off x="548640" y="5202936"/>
            <a:ext cx="11064240" cy="274320"/>
          </a:xfrm>
          <a:prstGeom prst="rect">
            <a:avLst/>
          </a:prstGeom>
          <a:noFill/>
          <a:ln/>
        </p:spPr>
        <p:txBody>
          <a:bodyPr wrap="square" lIns="0" tIns="0" rIns="0" bIns="0" rtlCol="0" anchor="ctr"/>
          <a:lstStyle/>
          <a:p>
            <a:pPr indent="0" marL="0">
              <a:buNone/>
            </a:pPr>
            <a:r>
              <a:rPr lang="en-US" sz="1400" dirty="0">
                <a:solidFill>
                  <a:srgbClr val="607D89"/>
                </a:solidFill>
                <a:latin typeface="Arial" pitchFamily="34" charset="0"/>
                <a:ea typeface="Arial" pitchFamily="34" charset="-122"/>
                <a:cs typeface="Arial" pitchFamily="34" charset="-120"/>
              </a:rPr>
              <a:t>Primary: 12-month robust z-score on residuals  ·  Complementary: standard Z, EWMA, two-sided CUSUM</a:t>
            </a:r>
            <a:endParaRPr lang="en-US" sz="1400" dirty="0"/>
          </a:p>
        </p:txBody>
      </p:sp>
      <p:sp>
        <p:nvSpPr>
          <p:cNvPr id="40" name="Shape 38"/>
          <p:cNvSpPr/>
          <p:nvPr/>
        </p:nvSpPr>
        <p:spPr>
          <a:xfrm>
            <a:off x="548640" y="5641848"/>
            <a:ext cx="11091672" cy="566928"/>
          </a:xfrm>
          <a:prstGeom prst="roundRect">
            <a:avLst>
              <a:gd name="adj" fmla="val 12903"/>
            </a:avLst>
          </a:prstGeom>
          <a:solidFill>
            <a:srgbClr val="EAF2F4"/>
          </a:solidFill>
          <a:ln w="10160">
            <a:solidFill>
              <a:srgbClr val="EAF2F4"/>
            </a:solidFill>
            <a:prstDash val="solid"/>
          </a:ln>
        </p:spPr>
      </p:sp>
      <p:sp>
        <p:nvSpPr>
          <p:cNvPr id="41" name="Text 39"/>
          <p:cNvSpPr/>
          <p:nvPr/>
        </p:nvSpPr>
        <p:spPr>
          <a:xfrm>
            <a:off x="731520" y="5815584"/>
            <a:ext cx="1234440" cy="182880"/>
          </a:xfrm>
          <a:prstGeom prst="rect">
            <a:avLst/>
          </a:prstGeom>
          <a:noFill/>
          <a:ln/>
        </p:spPr>
        <p:txBody>
          <a:bodyPr wrap="square" lIns="0" tIns="0" rIns="0" bIns="0" rtlCol="0" anchor="ctr"/>
          <a:lstStyle/>
          <a:p>
            <a:pPr indent="0" marL="0">
              <a:buNone/>
            </a:pPr>
            <a:r>
              <a:rPr lang="en-US" sz="1000" b="1" dirty="0">
                <a:solidFill>
                  <a:srgbClr val="164E63"/>
                </a:solidFill>
                <a:latin typeface="Arial" pitchFamily="34" charset="0"/>
                <a:ea typeface="Arial" pitchFamily="34" charset="-122"/>
                <a:cs typeface="Arial" pitchFamily="34" charset="-120"/>
              </a:rPr>
              <a:t>NOV 2020</a:t>
            </a:r>
            <a:endParaRPr lang="en-US" sz="1000" dirty="0"/>
          </a:p>
        </p:txBody>
      </p:sp>
      <p:sp>
        <p:nvSpPr>
          <p:cNvPr id="42" name="Text 40"/>
          <p:cNvSpPr/>
          <p:nvPr/>
        </p:nvSpPr>
        <p:spPr>
          <a:xfrm>
            <a:off x="1965960" y="5779008"/>
            <a:ext cx="9326880" cy="265176"/>
          </a:xfrm>
          <a:prstGeom prst="rect">
            <a:avLst/>
          </a:prstGeom>
          <a:noFill/>
          <a:ln/>
        </p:spPr>
        <p:txBody>
          <a:bodyPr wrap="square" lIns="0" tIns="0" rIns="0" bIns="0" rtlCol="0" anchor="ctr"/>
          <a:lstStyle/>
          <a:p>
            <a:pPr indent="0" marL="0">
              <a:buNone/>
            </a:pPr>
            <a:r>
              <a:rPr lang="en-US" sz="1500" dirty="0">
                <a:solidFill>
                  <a:srgbClr val="183543"/>
                </a:solidFill>
                <a:latin typeface="Arial" pitchFamily="34" charset="0"/>
                <a:ea typeface="Arial" pitchFamily="34" charset="-122"/>
                <a:cs typeface="Arial" pitchFamily="34" charset="-120"/>
              </a:rPr>
              <a:t>Large spike, but UNSCORED: insufficient residual history. No marker ≠ NORMAL.</a:t>
            </a:r>
            <a:endParaRPr lang="en-US" sz="1500" dirty="0"/>
          </a:p>
        </p:txBody>
      </p:sp>
      <p:sp>
        <p:nvSpPr>
          <p:cNvPr id="43" name="Text 41"/>
          <p:cNvSpPr/>
          <p:nvPr/>
        </p:nvSpPr>
        <p:spPr>
          <a:xfrm>
            <a:off x="3063240" y="6492240"/>
            <a:ext cx="7909560" cy="201168"/>
          </a:xfrm>
          <a:prstGeom prst="rect">
            <a:avLst/>
          </a:prstGeom>
          <a:solidFill>
            <a:srgbClr val="F6F9FA"/>
          </a:solid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Conservative two-month availability assumption · Strict point-in-time NOT VALIDATED</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03 / FLAGSHIP · HONDURAN MOTOR INSURANCE</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September 2025 triggered the signal</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04</a:t>
            </a:r>
            <a:endParaRPr lang="en-US" sz="1000" dirty="0"/>
          </a:p>
        </p:txBody>
      </p:sp>
      <p:sp>
        <p:nvSpPr>
          <p:cNvPr id="8" name="Text 6"/>
          <p:cNvSpPr/>
          <p:nvPr/>
        </p:nvSpPr>
        <p:spPr>
          <a:xfrm>
            <a:off x="594360" y="1847088"/>
            <a:ext cx="3383280" cy="612648"/>
          </a:xfrm>
          <a:prstGeom prst="rect">
            <a:avLst/>
          </a:prstGeom>
          <a:noFill/>
          <a:ln/>
        </p:spPr>
        <p:txBody>
          <a:bodyPr wrap="square" lIns="0" tIns="0" rIns="0" bIns="0" rtlCol="0" anchor="ctr"/>
          <a:lstStyle/>
          <a:p>
            <a:pPr indent="0" marL="0">
              <a:buNone/>
            </a:pPr>
            <a:r>
              <a:rPr lang="en-US" sz="3700" b="1" dirty="0">
                <a:solidFill>
                  <a:srgbClr val="183543"/>
                </a:solidFill>
                <a:latin typeface="Arial" pitchFamily="34" charset="0"/>
                <a:ea typeface="Arial" pitchFamily="34" charset="-122"/>
                <a:cs typeface="Arial" pitchFamily="34" charset="-120"/>
              </a:rPr>
              <a:t>L185.4M</a:t>
            </a:r>
            <a:endParaRPr lang="en-US" sz="3700" dirty="0"/>
          </a:p>
        </p:txBody>
      </p:sp>
      <p:sp>
        <p:nvSpPr>
          <p:cNvPr id="9" name="Text 7"/>
          <p:cNvSpPr/>
          <p:nvPr/>
        </p:nvSpPr>
        <p:spPr>
          <a:xfrm>
            <a:off x="594360" y="2560320"/>
            <a:ext cx="3383280" cy="228600"/>
          </a:xfrm>
          <a:prstGeom prst="rect">
            <a:avLst/>
          </a:prstGeom>
          <a:noFill/>
          <a:ln/>
        </p:spPr>
        <p:txBody>
          <a:bodyPr wrap="square" lIns="0" tIns="0" rIns="0" bIns="0" rtlCol="0" anchor="ctr"/>
          <a:lstStyle/>
          <a:p>
            <a:pPr indent="0" marL="0">
              <a:buNone/>
            </a:pPr>
            <a:r>
              <a:rPr lang="en-US" sz="1100" b="1" spc="120" kern="0" dirty="0">
                <a:solidFill>
                  <a:srgbClr val="607D89"/>
                </a:solidFill>
                <a:latin typeface="Arial" pitchFamily="34" charset="0"/>
                <a:ea typeface="Arial" pitchFamily="34" charset="-122"/>
                <a:cs typeface="Arial" pitchFamily="34" charset="-120"/>
              </a:rPr>
              <a:t>OBSERVED MONETARY CLAIMS</a:t>
            </a:r>
            <a:endParaRPr lang="en-US" sz="1100" dirty="0"/>
          </a:p>
        </p:txBody>
      </p:sp>
      <p:sp>
        <p:nvSpPr>
          <p:cNvPr id="10" name="Text 8"/>
          <p:cNvSpPr/>
          <p:nvPr/>
        </p:nvSpPr>
        <p:spPr>
          <a:xfrm>
            <a:off x="4251960" y="1847088"/>
            <a:ext cx="2971800" cy="612648"/>
          </a:xfrm>
          <a:prstGeom prst="rect">
            <a:avLst/>
          </a:prstGeom>
          <a:noFill/>
          <a:ln/>
        </p:spPr>
        <p:txBody>
          <a:bodyPr wrap="square" lIns="0" tIns="0" rIns="0" bIns="0" rtlCol="0" anchor="ctr"/>
          <a:lstStyle/>
          <a:p>
            <a:pPr indent="0" marL="0">
              <a:buNone/>
            </a:pPr>
            <a:r>
              <a:rPr lang="en-US" sz="3700" b="1" dirty="0">
                <a:solidFill>
                  <a:srgbClr val="183543"/>
                </a:solidFill>
                <a:latin typeface="Arial" pitchFamily="34" charset="0"/>
                <a:ea typeface="Arial" pitchFamily="34" charset="-122"/>
                <a:cs typeface="Arial" pitchFamily="34" charset="-120"/>
              </a:rPr>
              <a:t>L142.4M</a:t>
            </a:r>
            <a:endParaRPr lang="en-US" sz="3700" dirty="0"/>
          </a:p>
        </p:txBody>
      </p:sp>
      <p:sp>
        <p:nvSpPr>
          <p:cNvPr id="11" name="Text 9"/>
          <p:cNvSpPr/>
          <p:nvPr/>
        </p:nvSpPr>
        <p:spPr>
          <a:xfrm>
            <a:off x="4251960" y="2560320"/>
            <a:ext cx="2971800" cy="228600"/>
          </a:xfrm>
          <a:prstGeom prst="rect">
            <a:avLst/>
          </a:prstGeom>
          <a:noFill/>
          <a:ln/>
        </p:spPr>
        <p:txBody>
          <a:bodyPr wrap="square" lIns="0" tIns="0" rIns="0" bIns="0" rtlCol="0" anchor="ctr"/>
          <a:lstStyle/>
          <a:p>
            <a:pPr indent="0" marL="0">
              <a:buNone/>
            </a:pPr>
            <a:r>
              <a:rPr lang="en-US" sz="1100" b="1" spc="120" kern="0" dirty="0">
                <a:solidFill>
                  <a:srgbClr val="607D89"/>
                </a:solidFill>
                <a:latin typeface="Arial" pitchFamily="34" charset="0"/>
                <a:ea typeface="Arial" pitchFamily="34" charset="-122"/>
                <a:cs typeface="Arial" pitchFamily="34" charset="-120"/>
              </a:rPr>
              <a:t>EXPECTED</a:t>
            </a:r>
            <a:endParaRPr lang="en-US" sz="1100" dirty="0"/>
          </a:p>
        </p:txBody>
      </p:sp>
      <p:sp>
        <p:nvSpPr>
          <p:cNvPr id="12" name="Text 10"/>
          <p:cNvSpPr/>
          <p:nvPr/>
        </p:nvSpPr>
        <p:spPr>
          <a:xfrm>
            <a:off x="7863840" y="1847088"/>
            <a:ext cx="3657600" cy="612648"/>
          </a:xfrm>
          <a:prstGeom prst="rect">
            <a:avLst/>
          </a:prstGeom>
          <a:noFill/>
          <a:ln/>
        </p:spPr>
        <p:txBody>
          <a:bodyPr wrap="square" lIns="0" tIns="0" rIns="0" bIns="0" rtlCol="0" anchor="ctr"/>
          <a:lstStyle/>
          <a:p>
            <a:pPr indent="0" marL="0">
              <a:buNone/>
            </a:pPr>
            <a:r>
              <a:rPr lang="en-US" sz="3700" b="1" dirty="0">
                <a:solidFill>
                  <a:srgbClr val="29877D"/>
                </a:solidFill>
                <a:latin typeface="Arial" pitchFamily="34" charset="0"/>
                <a:ea typeface="Arial" pitchFamily="34" charset="-122"/>
                <a:cs typeface="Arial" pitchFamily="34" charset="-120"/>
              </a:rPr>
              <a:t>+L42.9M</a:t>
            </a:r>
            <a:endParaRPr lang="en-US" sz="3700" dirty="0"/>
          </a:p>
        </p:txBody>
      </p:sp>
      <p:sp>
        <p:nvSpPr>
          <p:cNvPr id="13" name="Text 11"/>
          <p:cNvSpPr/>
          <p:nvPr/>
        </p:nvSpPr>
        <p:spPr>
          <a:xfrm>
            <a:off x="7863840" y="2560320"/>
            <a:ext cx="3657600" cy="228600"/>
          </a:xfrm>
          <a:prstGeom prst="rect">
            <a:avLst/>
          </a:prstGeom>
          <a:noFill/>
          <a:ln/>
        </p:spPr>
        <p:txBody>
          <a:bodyPr wrap="square" lIns="0" tIns="0" rIns="0" bIns="0" rtlCol="0" anchor="ctr"/>
          <a:lstStyle/>
          <a:p>
            <a:pPr indent="0" marL="0">
              <a:buNone/>
            </a:pPr>
            <a:r>
              <a:rPr lang="en-US" sz="1100" b="1" spc="120" kern="0" dirty="0">
                <a:solidFill>
                  <a:srgbClr val="607D89"/>
                </a:solidFill>
                <a:latin typeface="Arial" pitchFamily="34" charset="0"/>
                <a:ea typeface="Arial" pitchFamily="34" charset="-122"/>
                <a:cs typeface="Arial" pitchFamily="34" charset="-120"/>
              </a:rPr>
              <a:t>ABOVE EXPECTED</a:t>
            </a:r>
            <a:endParaRPr lang="en-US" sz="1100" dirty="0"/>
          </a:p>
        </p:txBody>
      </p:sp>
      <p:sp>
        <p:nvSpPr>
          <p:cNvPr id="14" name="Shape 12"/>
          <p:cNvSpPr/>
          <p:nvPr/>
        </p:nvSpPr>
        <p:spPr>
          <a:xfrm>
            <a:off x="548640" y="3081528"/>
            <a:ext cx="5440680" cy="2203704"/>
          </a:xfrm>
          <a:prstGeom prst="roundRect">
            <a:avLst>
              <a:gd name="adj" fmla="val 4979"/>
            </a:avLst>
          </a:prstGeom>
          <a:solidFill>
            <a:srgbClr val="FFFFFF"/>
          </a:solidFill>
          <a:ln w="10160">
            <a:solidFill>
              <a:srgbClr val="DCE7EA"/>
            </a:solidFill>
            <a:prstDash val="solid"/>
          </a:ln>
        </p:spPr>
      </p:sp>
      <p:sp>
        <p:nvSpPr>
          <p:cNvPr id="15" name="Shape 13"/>
          <p:cNvSpPr/>
          <p:nvPr/>
        </p:nvSpPr>
        <p:spPr>
          <a:xfrm>
            <a:off x="6190488" y="3081528"/>
            <a:ext cx="5440680" cy="2203704"/>
          </a:xfrm>
          <a:prstGeom prst="roundRect">
            <a:avLst>
              <a:gd name="adj" fmla="val 4979"/>
            </a:avLst>
          </a:prstGeom>
          <a:solidFill>
            <a:srgbClr val="FFFFFF"/>
          </a:solidFill>
          <a:ln w="10160">
            <a:solidFill>
              <a:srgbClr val="DCE7EA"/>
            </a:solidFill>
            <a:prstDash val="solid"/>
          </a:ln>
        </p:spPr>
      </p:sp>
      <p:sp>
        <p:nvSpPr>
          <p:cNvPr id="16" name="Text 14"/>
          <p:cNvSpPr/>
          <p:nvPr/>
        </p:nvSpPr>
        <p:spPr>
          <a:xfrm>
            <a:off x="731520" y="3227832"/>
            <a:ext cx="5029200" cy="219456"/>
          </a:xfrm>
          <a:prstGeom prst="rect">
            <a:avLst/>
          </a:prstGeom>
          <a:noFill/>
          <a:ln/>
        </p:spPr>
        <p:txBody>
          <a:bodyPr wrap="square" lIns="0" tIns="0" rIns="0" bIns="0" rtlCol="0" anchor="ctr"/>
          <a:lstStyle/>
          <a:p>
            <a:pPr indent="0" marL="0">
              <a:buNone/>
            </a:pPr>
            <a:r>
              <a:rPr lang="en-US" sz="1100" b="1" spc="80" kern="0" dirty="0">
                <a:solidFill>
                  <a:srgbClr val="164E63"/>
                </a:solidFill>
                <a:latin typeface="Arial" pitchFamily="34" charset="0"/>
                <a:ea typeface="Arial" pitchFamily="34" charset="-122"/>
                <a:cs typeface="Arial" pitchFamily="34" charset="-120"/>
              </a:rPr>
              <a:t>OBSERVED VS EXPECTED · 2025</a:t>
            </a:r>
            <a:endParaRPr lang="en-US" sz="1100" dirty="0"/>
          </a:p>
        </p:txBody>
      </p:sp>
      <p:sp>
        <p:nvSpPr>
          <p:cNvPr id="17" name="Text 15"/>
          <p:cNvSpPr/>
          <p:nvPr/>
        </p:nvSpPr>
        <p:spPr>
          <a:xfrm>
            <a:off x="6373368" y="3227832"/>
            <a:ext cx="5029200" cy="219456"/>
          </a:xfrm>
          <a:prstGeom prst="rect">
            <a:avLst/>
          </a:prstGeom>
          <a:noFill/>
          <a:ln/>
        </p:spPr>
        <p:txBody>
          <a:bodyPr wrap="square" lIns="0" tIns="0" rIns="0" bIns="0" rtlCol="0" anchor="ctr"/>
          <a:lstStyle/>
          <a:p>
            <a:pPr indent="0" marL="0">
              <a:buNone/>
            </a:pPr>
            <a:r>
              <a:rPr lang="en-US" sz="1100" b="1" spc="80" kern="0" dirty="0">
                <a:solidFill>
                  <a:srgbClr val="164E63"/>
                </a:solidFill>
                <a:latin typeface="Arial" pitchFamily="34" charset="0"/>
                <a:ea typeface="Arial" pitchFamily="34" charset="-122"/>
                <a:cs typeface="Arial" pitchFamily="34" charset="-120"/>
              </a:rPr>
              <a:t>DIFFERENCE FROM EXPECTED · LEMPIRAS</a:t>
            </a:r>
            <a:endParaRPr lang="en-US" sz="1100" dirty="0"/>
          </a:p>
        </p:txBody>
      </p:sp>
      <p:pic>
        <p:nvPicPr>
          <p:cNvPr id="18" name="Image 0" descr="year-observed.png">    </p:cNvPr>
          <p:cNvPicPr>
            <a:picLocks noChangeAspect="1"/>
          </p:cNvPicPr>
          <p:nvPr/>
        </p:nvPicPr>
        <p:blipFill>
          <a:blip r:embed="rId1"/>
          <a:stretch>
            <a:fillRect/>
          </a:stretch>
        </p:blipFill>
        <p:spPr>
          <a:xfrm>
            <a:off x="640080" y="3616138"/>
            <a:ext cx="5257800" cy="1536819"/>
          </a:xfrm>
          <a:prstGeom prst="rect">
            <a:avLst/>
          </a:prstGeom>
        </p:spPr>
      </p:pic>
      <p:pic>
        <p:nvPicPr>
          <p:cNvPr id="19" name="Image 1" descr="year-residual.png">    </p:cNvPr>
          <p:cNvPicPr>
            <a:picLocks noChangeAspect="1"/>
          </p:cNvPicPr>
          <p:nvPr/>
        </p:nvPicPr>
        <p:blipFill>
          <a:blip r:embed="rId2"/>
          <a:stretch>
            <a:fillRect/>
          </a:stretch>
        </p:blipFill>
        <p:spPr>
          <a:xfrm>
            <a:off x="6281928" y="3616138"/>
            <a:ext cx="5257800" cy="1536819"/>
          </a:xfrm>
          <a:prstGeom prst="rect">
            <a:avLst/>
          </a:prstGeom>
        </p:spPr>
      </p:pic>
      <p:sp>
        <p:nvSpPr>
          <p:cNvPr id="20" name="Shape 16"/>
          <p:cNvSpPr/>
          <p:nvPr/>
        </p:nvSpPr>
        <p:spPr>
          <a:xfrm>
            <a:off x="594360" y="5532120"/>
            <a:ext cx="1143000" cy="320040"/>
          </a:xfrm>
          <a:prstGeom prst="roundRect">
            <a:avLst>
              <a:gd name="adj" fmla="val 20000"/>
            </a:avLst>
          </a:prstGeom>
          <a:solidFill>
            <a:srgbClr val="FBECEA"/>
          </a:solidFill>
          <a:ln w="10160">
            <a:solidFill>
              <a:srgbClr val="FBECEA"/>
            </a:solidFill>
            <a:prstDash val="solid"/>
          </a:ln>
        </p:spPr>
      </p:sp>
      <p:sp>
        <p:nvSpPr>
          <p:cNvPr id="21" name="Text 17"/>
          <p:cNvSpPr/>
          <p:nvPr/>
        </p:nvSpPr>
        <p:spPr>
          <a:xfrm>
            <a:off x="704088" y="5559552"/>
            <a:ext cx="923544" cy="256032"/>
          </a:xfrm>
          <a:prstGeom prst="rect">
            <a:avLst/>
          </a:prstGeom>
          <a:noFill/>
          <a:ln/>
        </p:spPr>
        <p:txBody>
          <a:bodyPr wrap="square" lIns="0" tIns="0" rIns="0" bIns="0" rtlCol="0" anchor="ctr"/>
          <a:lstStyle/>
          <a:p>
            <a:pPr indent="0" marL="0">
              <a:buNone/>
            </a:pPr>
            <a:r>
              <a:rPr lang="en-US" sz="1100" b="1" spc="100" kern="0" dirty="0">
                <a:solidFill>
                  <a:srgbClr val="C8544B"/>
                </a:solidFill>
                <a:latin typeface="Arial" pitchFamily="34" charset="0"/>
                <a:ea typeface="Arial" pitchFamily="34" charset="-122"/>
                <a:cs typeface="Arial" pitchFamily="34" charset="-120"/>
              </a:rPr>
              <a:t>ALERT</a:t>
            </a:r>
            <a:endParaRPr lang="en-US" sz="1100" dirty="0"/>
          </a:p>
        </p:txBody>
      </p:sp>
      <p:sp>
        <p:nvSpPr>
          <p:cNvPr id="22" name="Text 18"/>
          <p:cNvSpPr/>
          <p:nvPr/>
        </p:nvSpPr>
        <p:spPr>
          <a:xfrm>
            <a:off x="1965960" y="5504688"/>
            <a:ext cx="1828800" cy="384048"/>
          </a:xfrm>
          <a:prstGeom prst="rect">
            <a:avLst/>
          </a:prstGeom>
          <a:noFill/>
          <a:ln/>
        </p:spPr>
        <p:txBody>
          <a:bodyPr wrap="square" lIns="0" tIns="0" rIns="0" bIns="0" rtlCol="0" anchor="ctr"/>
          <a:lstStyle/>
          <a:p>
            <a:pPr indent="0" marL="0">
              <a:buNone/>
            </a:pPr>
            <a:r>
              <a:rPr lang="en-US" sz="2600" b="1" dirty="0">
                <a:solidFill>
                  <a:srgbClr val="29877D"/>
                </a:solidFill>
                <a:latin typeface="Arial" pitchFamily="34" charset="0"/>
                <a:ea typeface="Arial" pitchFamily="34" charset="-122"/>
                <a:cs typeface="Arial" pitchFamily="34" charset="-120"/>
              </a:rPr>
              <a:t>+30.15%</a:t>
            </a:r>
            <a:endParaRPr lang="en-US" sz="2600" dirty="0"/>
          </a:p>
        </p:txBody>
      </p:sp>
      <p:sp>
        <p:nvSpPr>
          <p:cNvPr id="23" name="Text 19"/>
          <p:cNvSpPr/>
          <p:nvPr/>
        </p:nvSpPr>
        <p:spPr>
          <a:xfrm>
            <a:off x="3950208" y="5532120"/>
            <a:ext cx="7315200" cy="329184"/>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Robust Z 11.02  ·  HIGH exploratory materiality</a:t>
            </a:r>
            <a:endParaRPr lang="en-US" sz="1700" dirty="0"/>
          </a:p>
        </p:txBody>
      </p:sp>
      <p:sp>
        <p:nvSpPr>
          <p:cNvPr id="24" name="Text 20"/>
          <p:cNvSpPr/>
          <p:nvPr/>
        </p:nvSpPr>
        <p:spPr>
          <a:xfrm>
            <a:off x="594360" y="6062472"/>
            <a:ext cx="10972800" cy="201168"/>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Reported: 2025-09-30  →  Available for analysis (simulated): 2025-12-01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04 / THE ROLE OF AI</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Detection and investigation are different jobs</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05</a:t>
            </a:r>
            <a:endParaRPr lang="en-US" sz="1000" dirty="0"/>
          </a:p>
        </p:txBody>
      </p:sp>
      <p:sp>
        <p:nvSpPr>
          <p:cNvPr id="8" name="Shape 6"/>
          <p:cNvSpPr/>
          <p:nvPr/>
        </p:nvSpPr>
        <p:spPr>
          <a:xfrm>
            <a:off x="548640" y="1856232"/>
            <a:ext cx="3502152" cy="1261872"/>
          </a:xfrm>
          <a:prstGeom prst="roundRect">
            <a:avLst>
              <a:gd name="adj" fmla="val 8696"/>
            </a:avLst>
          </a:prstGeom>
          <a:solidFill>
            <a:srgbClr val="FFFFFF"/>
          </a:solidFill>
          <a:ln w="10160">
            <a:solidFill>
              <a:srgbClr val="DCE7EA"/>
            </a:solidFill>
            <a:prstDash val="solid"/>
          </a:ln>
        </p:spPr>
      </p:sp>
      <p:sp>
        <p:nvSpPr>
          <p:cNvPr id="9" name="Text 7"/>
          <p:cNvSpPr/>
          <p:nvPr/>
        </p:nvSpPr>
        <p:spPr>
          <a:xfrm>
            <a:off x="740664" y="2011680"/>
            <a:ext cx="3108960" cy="219456"/>
          </a:xfrm>
          <a:prstGeom prst="rect">
            <a:avLst/>
          </a:prstGeom>
          <a:noFill/>
          <a:ln/>
        </p:spPr>
        <p:txBody>
          <a:bodyPr wrap="square" lIns="0" tIns="0" rIns="0" bIns="0" rtlCol="0" anchor="ctr"/>
          <a:lstStyle/>
          <a:p>
            <a:pPr indent="0" marL="0">
              <a:buNone/>
            </a:pPr>
            <a:r>
              <a:rPr lang="en-US" sz="1200" b="1" spc="150" kern="0" dirty="0">
                <a:solidFill>
                  <a:srgbClr val="164E63"/>
                </a:solidFill>
                <a:latin typeface="Arial" pitchFamily="34" charset="0"/>
                <a:ea typeface="Arial" pitchFamily="34" charset="-122"/>
                <a:cs typeface="Arial" pitchFamily="34" charset="-120"/>
              </a:rPr>
              <a:t>STATISTICS</a:t>
            </a:r>
            <a:endParaRPr lang="en-US" sz="1200" dirty="0"/>
          </a:p>
        </p:txBody>
      </p:sp>
      <p:sp>
        <p:nvSpPr>
          <p:cNvPr id="10" name="Text 8"/>
          <p:cNvSpPr/>
          <p:nvPr/>
        </p:nvSpPr>
        <p:spPr>
          <a:xfrm>
            <a:off x="740664" y="2377440"/>
            <a:ext cx="3108960" cy="502920"/>
          </a:xfrm>
          <a:prstGeom prst="rect">
            <a:avLst/>
          </a:prstGeom>
          <a:noFill/>
          <a:ln/>
        </p:spPr>
        <p:txBody>
          <a:bodyPr wrap="square" lIns="0" tIns="0" rIns="0" bIns="0" rtlCol="0" anchor="ctr"/>
          <a:lstStyle/>
          <a:p>
            <a:pPr indent="0" marL="0">
              <a:buNone/>
            </a:pPr>
            <a:r>
              <a:rPr lang="en-US" sz="2000" b="1" dirty="0">
                <a:solidFill>
                  <a:srgbClr val="183543"/>
                </a:solidFill>
                <a:latin typeface="Arial" pitchFamily="34" charset="0"/>
                <a:ea typeface="Arial" pitchFamily="34" charset="-122"/>
                <a:cs typeface="Arial" pitchFamily="34" charset="-120"/>
              </a:rPr>
              <a:t>Is something unusual?</a:t>
            </a:r>
            <a:endParaRPr lang="en-US" sz="2000" dirty="0"/>
          </a:p>
        </p:txBody>
      </p:sp>
      <p:sp>
        <p:nvSpPr>
          <p:cNvPr id="11" name="Text 9"/>
          <p:cNvSpPr/>
          <p:nvPr/>
        </p:nvSpPr>
        <p:spPr>
          <a:xfrm>
            <a:off x="4078224" y="2331720"/>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2" name="Shape 10"/>
          <p:cNvSpPr/>
          <p:nvPr/>
        </p:nvSpPr>
        <p:spPr>
          <a:xfrm>
            <a:off x="4352544" y="1856232"/>
            <a:ext cx="3502152" cy="1261872"/>
          </a:xfrm>
          <a:prstGeom prst="roundRect">
            <a:avLst>
              <a:gd name="adj" fmla="val 8696"/>
            </a:avLst>
          </a:prstGeom>
          <a:solidFill>
            <a:srgbClr val="FFFFFF"/>
          </a:solidFill>
          <a:ln w="10160">
            <a:solidFill>
              <a:srgbClr val="DCE7EA"/>
            </a:solidFill>
            <a:prstDash val="solid"/>
          </a:ln>
        </p:spPr>
      </p:sp>
      <p:sp>
        <p:nvSpPr>
          <p:cNvPr id="13" name="Text 11"/>
          <p:cNvSpPr/>
          <p:nvPr/>
        </p:nvSpPr>
        <p:spPr>
          <a:xfrm>
            <a:off x="4544568" y="2011680"/>
            <a:ext cx="3108960" cy="219456"/>
          </a:xfrm>
          <a:prstGeom prst="rect">
            <a:avLst/>
          </a:prstGeom>
          <a:noFill/>
          <a:ln/>
        </p:spPr>
        <p:txBody>
          <a:bodyPr wrap="square" lIns="0" tIns="0" rIns="0" bIns="0" rtlCol="0" anchor="ctr"/>
          <a:lstStyle/>
          <a:p>
            <a:pPr indent="0" marL="0">
              <a:buNone/>
            </a:pPr>
            <a:r>
              <a:rPr lang="en-US" sz="1200" b="1" spc="150" kern="0" dirty="0">
                <a:solidFill>
                  <a:srgbClr val="29877D"/>
                </a:solidFill>
                <a:latin typeface="Arial" pitchFamily="34" charset="0"/>
                <a:ea typeface="Arial" pitchFamily="34" charset="-122"/>
                <a:cs typeface="Arial" pitchFamily="34" charset="-120"/>
              </a:rPr>
              <a:t>AI</a:t>
            </a:r>
            <a:endParaRPr lang="en-US" sz="1200" dirty="0"/>
          </a:p>
        </p:txBody>
      </p:sp>
      <p:sp>
        <p:nvSpPr>
          <p:cNvPr id="14" name="Text 12"/>
          <p:cNvSpPr/>
          <p:nvPr/>
        </p:nvSpPr>
        <p:spPr>
          <a:xfrm>
            <a:off x="4544568" y="2377440"/>
            <a:ext cx="3108960" cy="502920"/>
          </a:xfrm>
          <a:prstGeom prst="rect">
            <a:avLst/>
          </a:prstGeom>
          <a:noFill/>
          <a:ln/>
        </p:spPr>
        <p:txBody>
          <a:bodyPr wrap="square" lIns="0" tIns="0" rIns="0" bIns="0" rtlCol="0" anchor="ctr"/>
          <a:lstStyle/>
          <a:p>
            <a:pPr indent="0" marL="0">
              <a:buNone/>
            </a:pPr>
            <a:r>
              <a:rPr lang="en-US" sz="2000" b="1" dirty="0">
                <a:solidFill>
                  <a:srgbClr val="183543"/>
                </a:solidFill>
                <a:latin typeface="Arial" pitchFamily="34" charset="0"/>
                <a:ea typeface="Arial" pitchFamily="34" charset="-122"/>
                <a:cs typeface="Arial" pitchFamily="34" charset="-120"/>
              </a:rPr>
              <a:t>What should we investigate?</a:t>
            </a:r>
            <a:endParaRPr lang="en-US" sz="2000" dirty="0"/>
          </a:p>
        </p:txBody>
      </p:sp>
      <p:sp>
        <p:nvSpPr>
          <p:cNvPr id="15" name="Text 13"/>
          <p:cNvSpPr/>
          <p:nvPr/>
        </p:nvSpPr>
        <p:spPr>
          <a:xfrm>
            <a:off x="7882128" y="2331720"/>
            <a:ext cx="246888"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8156448" y="1856232"/>
            <a:ext cx="3502152" cy="1261872"/>
          </a:xfrm>
          <a:prstGeom prst="roundRect">
            <a:avLst>
              <a:gd name="adj" fmla="val 8696"/>
            </a:avLst>
          </a:prstGeom>
          <a:solidFill>
            <a:srgbClr val="FFFFFF"/>
          </a:solidFill>
          <a:ln w="10160">
            <a:solidFill>
              <a:srgbClr val="DCE7EA"/>
            </a:solidFill>
            <a:prstDash val="solid"/>
          </a:ln>
        </p:spPr>
      </p:sp>
      <p:sp>
        <p:nvSpPr>
          <p:cNvPr id="17" name="Text 15"/>
          <p:cNvSpPr/>
          <p:nvPr/>
        </p:nvSpPr>
        <p:spPr>
          <a:xfrm>
            <a:off x="8348472" y="2011680"/>
            <a:ext cx="3108960" cy="219456"/>
          </a:xfrm>
          <a:prstGeom prst="rect">
            <a:avLst/>
          </a:prstGeom>
          <a:noFill/>
          <a:ln/>
        </p:spPr>
        <p:txBody>
          <a:bodyPr wrap="square" lIns="0" tIns="0" rIns="0" bIns="0" rtlCol="0" anchor="ctr"/>
          <a:lstStyle/>
          <a:p>
            <a:pPr indent="0" marL="0">
              <a:buNone/>
            </a:pPr>
            <a:r>
              <a:rPr lang="en-US" sz="1200" b="1" spc="150" kern="0" dirty="0">
                <a:solidFill>
                  <a:srgbClr val="183543"/>
                </a:solidFill>
                <a:latin typeface="Arial" pitchFamily="34" charset="0"/>
                <a:ea typeface="Arial" pitchFamily="34" charset="-122"/>
                <a:cs typeface="Arial" pitchFamily="34" charset="-120"/>
              </a:rPr>
              <a:t>HUMAN</a:t>
            </a:r>
            <a:endParaRPr lang="en-US" sz="1200" dirty="0"/>
          </a:p>
        </p:txBody>
      </p:sp>
      <p:sp>
        <p:nvSpPr>
          <p:cNvPr id="18" name="Text 16"/>
          <p:cNvSpPr/>
          <p:nvPr/>
        </p:nvSpPr>
        <p:spPr>
          <a:xfrm>
            <a:off x="8348472" y="2377440"/>
            <a:ext cx="3108960" cy="502920"/>
          </a:xfrm>
          <a:prstGeom prst="rect">
            <a:avLst/>
          </a:prstGeom>
          <a:noFill/>
          <a:ln/>
        </p:spPr>
        <p:txBody>
          <a:bodyPr wrap="square" lIns="0" tIns="0" rIns="0" bIns="0" rtlCol="0" anchor="ctr"/>
          <a:lstStyle/>
          <a:p>
            <a:pPr indent="0" marL="0">
              <a:buNone/>
            </a:pPr>
            <a:r>
              <a:rPr lang="en-US" sz="2000" b="1" dirty="0">
                <a:solidFill>
                  <a:srgbClr val="183543"/>
                </a:solidFill>
                <a:latin typeface="Arial" pitchFamily="34" charset="0"/>
                <a:ea typeface="Arial" pitchFamily="34" charset="-122"/>
                <a:cs typeface="Arial" pitchFamily="34" charset="-120"/>
              </a:rPr>
              <a:t>What does it mean?</a:t>
            </a:r>
            <a:endParaRPr lang="en-US" sz="2000" dirty="0"/>
          </a:p>
          <a:p>
            <a:pPr indent="0" marL="0">
              <a:buNone/>
            </a:pPr>
            <a:r>
              <a:rPr lang="en-US" sz="2000" b="1" dirty="0">
                <a:solidFill>
                  <a:srgbClr val="183543"/>
                </a:solidFill>
                <a:latin typeface="Arial" pitchFamily="34" charset="0"/>
                <a:ea typeface="Arial" pitchFamily="34" charset="-122"/>
                <a:cs typeface="Arial" pitchFamily="34" charset="-120"/>
              </a:rPr>
              <a:t>What should we do?</a:t>
            </a:r>
            <a:endParaRPr lang="en-US" sz="2000" dirty="0"/>
          </a:p>
        </p:txBody>
      </p:sp>
      <p:sp>
        <p:nvSpPr>
          <p:cNvPr id="19" name="Shape 17"/>
          <p:cNvSpPr/>
          <p:nvPr/>
        </p:nvSpPr>
        <p:spPr>
          <a:xfrm>
            <a:off x="548640" y="3401568"/>
            <a:ext cx="5760720" cy="2624328"/>
          </a:xfrm>
          <a:prstGeom prst="roundRect">
            <a:avLst>
              <a:gd name="adj" fmla="val 4181"/>
            </a:avLst>
          </a:prstGeom>
          <a:solidFill>
            <a:srgbClr val="FFFFFF"/>
          </a:solidFill>
          <a:ln w="10160">
            <a:solidFill>
              <a:srgbClr val="DCE7EA"/>
            </a:solidFill>
            <a:prstDash val="solid"/>
          </a:ln>
        </p:spPr>
      </p:sp>
      <p:pic>
        <p:nvPicPr>
          <p:cNvPr id="20" name="Image 0" descr="recorded-production-header.png">    </p:cNvPr>
          <p:cNvPicPr>
            <a:picLocks noChangeAspect="1"/>
          </p:cNvPicPr>
          <p:nvPr/>
        </p:nvPicPr>
        <p:blipFill>
          <a:blip r:embed="rId1"/>
          <a:stretch>
            <a:fillRect/>
          </a:stretch>
        </p:blipFill>
        <p:spPr>
          <a:xfrm>
            <a:off x="640080" y="3586163"/>
            <a:ext cx="5577840" cy="1743075"/>
          </a:xfrm>
          <a:prstGeom prst="rect">
            <a:avLst/>
          </a:prstGeom>
        </p:spPr>
      </p:pic>
      <p:sp>
        <p:nvSpPr>
          <p:cNvPr id="21" name="Shape 18"/>
          <p:cNvSpPr/>
          <p:nvPr/>
        </p:nvSpPr>
        <p:spPr>
          <a:xfrm>
            <a:off x="777240" y="5532120"/>
            <a:ext cx="5303520" cy="320040"/>
          </a:xfrm>
          <a:prstGeom prst="roundRect">
            <a:avLst>
              <a:gd name="adj" fmla="val 20000"/>
            </a:avLst>
          </a:prstGeom>
          <a:solidFill>
            <a:srgbClr val="E5F3EE"/>
          </a:solidFill>
          <a:ln w="10160">
            <a:solidFill>
              <a:srgbClr val="E5F3EE"/>
            </a:solidFill>
            <a:prstDash val="solid"/>
          </a:ln>
        </p:spPr>
      </p:sp>
      <p:sp>
        <p:nvSpPr>
          <p:cNvPr id="22" name="Text 19"/>
          <p:cNvSpPr/>
          <p:nvPr/>
        </p:nvSpPr>
        <p:spPr>
          <a:xfrm>
            <a:off x="886968" y="5559552"/>
            <a:ext cx="5084064" cy="256032"/>
          </a:xfrm>
          <a:prstGeom prst="rect">
            <a:avLst/>
          </a:prstGeom>
          <a:noFill/>
          <a:ln/>
        </p:spPr>
        <p:txBody>
          <a:bodyPr wrap="square" lIns="0" tIns="0" rIns="0" bIns="0" rtlCol="0" anchor="ctr"/>
          <a:lstStyle/>
          <a:p>
            <a:pPr indent="0" marL="0">
              <a:buNone/>
            </a:pPr>
            <a:r>
              <a:rPr lang="en-US" sz="1100" b="1" spc="100" kern="0" dirty="0">
                <a:solidFill>
                  <a:srgbClr val="29877D"/>
                </a:solidFill>
                <a:latin typeface="Arial" pitchFamily="34" charset="0"/>
                <a:ea typeface="Arial" pitchFamily="34" charset="-122"/>
                <a:cs typeface="Arial" pitchFamily="34" charset="-120"/>
              </a:rPr>
              <a:t>COMPLETED · REAL AMD EXECUTION</a:t>
            </a:r>
            <a:endParaRPr lang="en-US" sz="1100" dirty="0"/>
          </a:p>
        </p:txBody>
      </p:sp>
      <p:sp>
        <p:nvSpPr>
          <p:cNvPr id="23" name="Text 20"/>
          <p:cNvSpPr/>
          <p:nvPr/>
        </p:nvSpPr>
        <p:spPr>
          <a:xfrm>
            <a:off x="640080" y="6099048"/>
            <a:ext cx="5669280" cy="164592"/>
          </a:xfrm>
          <a:prstGeom prst="rect">
            <a:avLst/>
          </a:prstGeom>
          <a:noFill/>
          <a:ln/>
        </p:spPr>
        <p:txBody>
          <a:bodyPr wrap="square" lIns="0" tIns="0" rIns="0" bIns="0" rtlCol="0" anchor="ctr"/>
          <a:lstStyle/>
          <a:p>
            <a:pPr indent="0" marL="0">
              <a:buNone/>
            </a:pPr>
            <a:r>
              <a:rPr lang="en-US" sz="950" dirty="0">
                <a:solidFill>
                  <a:srgbClr val="607D89"/>
                </a:solidFill>
                <a:latin typeface="Arial" pitchFamily="34" charset="0"/>
                <a:ea typeface="Arial" pitchFamily="34" charset="-122"/>
                <a:cs typeface="Arial" pitchFamily="34" charset="-120"/>
              </a:rPr>
              <a:t>Recorded real public run · Spanish output · Human review preserved</a:t>
            </a:r>
            <a:endParaRPr lang="en-US" sz="950" dirty="0"/>
          </a:p>
        </p:txBody>
      </p:sp>
      <p:sp>
        <p:nvSpPr>
          <p:cNvPr id="24" name="Text 21"/>
          <p:cNvSpPr/>
          <p:nvPr/>
        </p:nvSpPr>
        <p:spPr>
          <a:xfrm>
            <a:off x="6656832" y="3502152"/>
            <a:ext cx="4892040" cy="758952"/>
          </a:xfrm>
          <a:prstGeom prst="rect">
            <a:avLst/>
          </a:prstGeom>
          <a:noFill/>
          <a:ln/>
        </p:spPr>
        <p:txBody>
          <a:bodyPr wrap="square" lIns="0" tIns="0" rIns="0" bIns="0" rtlCol="0" anchor="ctr"/>
          <a:lstStyle/>
          <a:p>
            <a:pPr indent="0" marL="0">
              <a:buNone/>
            </a:pPr>
            <a:r>
              <a:rPr lang="en-US" sz="2500" b="1" dirty="0">
                <a:solidFill>
                  <a:srgbClr val="164E63"/>
                </a:solidFill>
                <a:latin typeface="Arial" pitchFamily="34" charset="0"/>
                <a:ea typeface="Arial" pitchFamily="34" charset="-122"/>
                <a:cs typeface="Arial" pitchFamily="34" charset="-120"/>
              </a:rPr>
              <a:t>The AI never creates</a:t>
            </a:r>
            <a:endParaRPr lang="en-US" sz="2500" dirty="0"/>
          </a:p>
          <a:p>
            <a:pPr indent="0" marL="0">
              <a:buNone/>
            </a:pPr>
            <a:r>
              <a:rPr lang="en-US" sz="2500" b="1" dirty="0">
                <a:solidFill>
                  <a:srgbClr val="164E63"/>
                </a:solidFill>
                <a:latin typeface="Arial" pitchFamily="34" charset="0"/>
                <a:ea typeface="Arial" pitchFamily="34" charset="-122"/>
                <a:cs typeface="Arial" pitchFamily="34" charset="-120"/>
              </a:rPr>
              <a:t>or overrides the alert.</a:t>
            </a:r>
            <a:endParaRPr lang="en-US" sz="2500" dirty="0"/>
          </a:p>
        </p:txBody>
      </p:sp>
      <p:sp>
        <p:nvSpPr>
          <p:cNvPr id="25" name="Text 22"/>
          <p:cNvSpPr/>
          <p:nvPr/>
        </p:nvSpPr>
        <p:spPr>
          <a:xfrm>
            <a:off x="6675120" y="4526280"/>
            <a:ext cx="4800600" cy="24688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Summarize validated evidence</a:t>
            </a:r>
            <a:endParaRPr lang="en-US" sz="1700" dirty="0"/>
          </a:p>
        </p:txBody>
      </p:sp>
      <p:sp>
        <p:nvSpPr>
          <p:cNvPr id="26" name="Text 23"/>
          <p:cNvSpPr/>
          <p:nvPr/>
        </p:nvSpPr>
        <p:spPr>
          <a:xfrm>
            <a:off x="6675120" y="4873752"/>
            <a:ext cx="4800600" cy="24688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Propose testable hypotheses</a:t>
            </a:r>
            <a:endParaRPr lang="en-US" sz="1700" dirty="0"/>
          </a:p>
        </p:txBody>
      </p:sp>
      <p:sp>
        <p:nvSpPr>
          <p:cNvPr id="27" name="Text 24"/>
          <p:cNvSpPr/>
          <p:nvPr/>
        </p:nvSpPr>
        <p:spPr>
          <a:xfrm>
            <a:off x="6675120" y="5221224"/>
            <a:ext cx="4800600" cy="24688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Identify missing information</a:t>
            </a:r>
            <a:endParaRPr lang="en-US" sz="1700" dirty="0"/>
          </a:p>
        </p:txBody>
      </p:sp>
      <p:sp>
        <p:nvSpPr>
          <p:cNvPr id="28" name="Text 25"/>
          <p:cNvSpPr/>
          <p:nvPr/>
        </p:nvSpPr>
        <p:spPr>
          <a:xfrm>
            <a:off x="6675120" y="5568696"/>
            <a:ext cx="4800600" cy="246888"/>
          </a:xfrm>
          <a:prstGeom prst="rect">
            <a:avLst/>
          </a:prstGeom>
          <a:noFill/>
          <a:ln/>
        </p:spPr>
        <p:txBody>
          <a:bodyPr wrap="square" lIns="0" tIns="0" rIns="0" bIns="0" rtlCol="0" anchor="ctr"/>
          <a:lstStyle/>
          <a:p>
            <a:pPr indent="0" marL="0">
              <a:buNone/>
            </a:pPr>
            <a:r>
              <a:rPr lang="en-US" sz="1700" dirty="0">
                <a:solidFill>
                  <a:srgbClr val="183543"/>
                </a:solidFill>
                <a:latin typeface="Arial" pitchFamily="34" charset="0"/>
                <a:ea typeface="Arial" pitchFamily="34" charset="-122"/>
                <a:cs typeface="Arial" pitchFamily="34" charset="-120"/>
              </a:rPr>
              <a:t>Recommend the next checks</a:t>
            </a:r>
            <a:endParaRPr lang="en-US" sz="1700" dirty="0"/>
          </a:p>
        </p:txBody>
      </p:sp>
      <p:sp>
        <p:nvSpPr>
          <p:cNvPr id="29" name="Shape 26"/>
          <p:cNvSpPr/>
          <p:nvPr/>
        </p:nvSpPr>
        <p:spPr>
          <a:xfrm>
            <a:off x="6675120" y="5971032"/>
            <a:ext cx="4480560" cy="320040"/>
          </a:xfrm>
          <a:prstGeom prst="roundRect">
            <a:avLst>
              <a:gd name="adj" fmla="val 20000"/>
            </a:avLst>
          </a:prstGeom>
          <a:solidFill>
            <a:srgbClr val="E5F3EE"/>
          </a:solidFill>
          <a:ln w="10160">
            <a:solidFill>
              <a:srgbClr val="E5F3EE"/>
            </a:solidFill>
            <a:prstDash val="solid"/>
          </a:ln>
        </p:spPr>
      </p:sp>
      <p:sp>
        <p:nvSpPr>
          <p:cNvPr id="30" name="Text 27"/>
          <p:cNvSpPr/>
          <p:nvPr/>
        </p:nvSpPr>
        <p:spPr>
          <a:xfrm>
            <a:off x="6784848" y="5998464"/>
            <a:ext cx="4261104" cy="256032"/>
          </a:xfrm>
          <a:prstGeom prst="rect">
            <a:avLst/>
          </a:prstGeom>
          <a:noFill/>
          <a:ln/>
        </p:spPr>
        <p:txBody>
          <a:bodyPr wrap="square" lIns="0" tIns="0" rIns="0" bIns="0" rtlCol="0" anchor="ctr"/>
          <a:lstStyle/>
          <a:p>
            <a:pPr indent="0" marL="0">
              <a:buNone/>
            </a:pPr>
            <a:r>
              <a:rPr lang="en-US" sz="1100" b="1" spc="100" kern="0" dirty="0">
                <a:solidFill>
                  <a:srgbClr val="29877D"/>
                </a:solidFill>
                <a:latin typeface="Arial" pitchFamily="34" charset="0"/>
                <a:ea typeface="Arial" pitchFamily="34" charset="-122"/>
                <a:cs typeface="Arial" pitchFamily="34" charset="-120"/>
              </a:rPr>
              <a:t>HUMAN_REVIEW_REQUIRED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F40"/>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75C9C2"/>
                </a:solidFill>
                <a:latin typeface="Arial" pitchFamily="34" charset="0"/>
                <a:ea typeface="Arial" pitchFamily="34" charset="-122"/>
                <a:cs typeface="Arial" pitchFamily="34" charset="-120"/>
              </a:rPr>
              <a:t>05 / EVOLUS BUSINESS AGENTS ON AMD</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A business-agent workflow, not just a chatbot</a:t>
            </a:r>
            <a:endParaRPr lang="en-US" sz="3100" dirty="0"/>
          </a:p>
        </p:txBody>
      </p:sp>
      <p:sp>
        <p:nvSpPr>
          <p:cNvPr id="4" name="Shape 2"/>
          <p:cNvSpPr/>
          <p:nvPr/>
        </p:nvSpPr>
        <p:spPr>
          <a:xfrm>
            <a:off x="502920" y="6437376"/>
            <a:ext cx="11183112" cy="0"/>
          </a:xfrm>
          <a:prstGeom prst="line">
            <a:avLst/>
          </a:prstGeom>
          <a:noFill/>
          <a:ln w="8890">
            <a:solidFill>
              <a:srgbClr val="335162"/>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A8C4D0"/>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A8C4D0"/>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A8C4D0"/>
                </a:solidFill>
                <a:latin typeface="Arial" pitchFamily="34" charset="0"/>
                <a:ea typeface="Arial" pitchFamily="34" charset="-122"/>
                <a:cs typeface="Arial" pitchFamily="34" charset="-120"/>
              </a:rPr>
              <a:t>06</a:t>
            </a:r>
            <a:endParaRPr lang="en-US" sz="1000" dirty="0"/>
          </a:p>
        </p:txBody>
      </p:sp>
      <p:sp>
        <p:nvSpPr>
          <p:cNvPr id="8" name="Shape 6"/>
          <p:cNvSpPr/>
          <p:nvPr/>
        </p:nvSpPr>
        <p:spPr>
          <a:xfrm>
            <a:off x="548640" y="1938528"/>
            <a:ext cx="2907792" cy="3566160"/>
          </a:xfrm>
          <a:prstGeom prst="roundRect">
            <a:avLst>
              <a:gd name="adj" fmla="val 3774"/>
            </a:avLst>
          </a:prstGeom>
          <a:solidFill>
            <a:srgbClr val="183E51"/>
          </a:solidFill>
          <a:ln w="10160">
            <a:solidFill>
              <a:srgbClr val="365A6D"/>
            </a:solidFill>
            <a:prstDash val="solid"/>
          </a:ln>
        </p:spPr>
      </p:sp>
      <p:sp>
        <p:nvSpPr>
          <p:cNvPr id="9" name="Shape 7"/>
          <p:cNvSpPr/>
          <p:nvPr/>
        </p:nvSpPr>
        <p:spPr>
          <a:xfrm>
            <a:off x="749808" y="2167128"/>
            <a:ext cx="2286000" cy="320040"/>
          </a:xfrm>
          <a:prstGeom prst="roundRect">
            <a:avLst>
              <a:gd name="adj" fmla="val 20000"/>
            </a:avLst>
          </a:prstGeom>
          <a:solidFill>
            <a:srgbClr val="234E5D"/>
          </a:solidFill>
          <a:ln w="10160">
            <a:solidFill>
              <a:srgbClr val="234E5D"/>
            </a:solidFill>
            <a:prstDash val="solid"/>
          </a:ln>
        </p:spPr>
      </p:sp>
      <p:sp>
        <p:nvSpPr>
          <p:cNvPr id="10" name="Text 8"/>
          <p:cNvSpPr/>
          <p:nvPr/>
        </p:nvSpPr>
        <p:spPr>
          <a:xfrm>
            <a:off x="859536" y="2194560"/>
            <a:ext cx="2066544" cy="256032"/>
          </a:xfrm>
          <a:prstGeom prst="rect">
            <a:avLst/>
          </a:prstGeom>
          <a:noFill/>
          <a:ln/>
        </p:spPr>
        <p:txBody>
          <a:bodyPr wrap="square" lIns="0" tIns="0" rIns="0" bIns="0" rtlCol="0" anchor="ctr"/>
          <a:lstStyle/>
          <a:p>
            <a:pPr indent="0" marL="0">
              <a:buNone/>
            </a:pPr>
            <a:r>
              <a:rPr lang="en-US" sz="1100" b="1" spc="100" kern="0" dirty="0">
                <a:solidFill>
                  <a:srgbClr val="A9DCD7"/>
                </a:solidFill>
                <a:latin typeface="Arial" pitchFamily="34" charset="0"/>
                <a:ea typeface="Arial" pitchFamily="34" charset="-122"/>
                <a:cs typeface="Arial" pitchFamily="34" charset="-120"/>
              </a:rPr>
              <a:t>01 / HANDOFF</a:t>
            </a:r>
            <a:endParaRPr lang="en-US" sz="1100" dirty="0"/>
          </a:p>
        </p:txBody>
      </p:sp>
      <p:sp>
        <p:nvSpPr>
          <p:cNvPr id="11" name="Text 9"/>
          <p:cNvSpPr/>
          <p:nvPr/>
        </p:nvSpPr>
        <p:spPr>
          <a:xfrm>
            <a:off x="758952" y="2752344"/>
            <a:ext cx="2514600" cy="41148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Validated signal</a:t>
            </a:r>
            <a:endParaRPr lang="en-US" sz="2500" dirty="0"/>
          </a:p>
        </p:txBody>
      </p:sp>
      <p:sp>
        <p:nvSpPr>
          <p:cNvPr id="12" name="Text 10"/>
          <p:cNvSpPr/>
          <p:nvPr/>
        </p:nvSpPr>
        <p:spPr>
          <a:xfrm>
            <a:off x="758952" y="3447288"/>
            <a:ext cx="2423160" cy="1133856"/>
          </a:xfrm>
          <a:prstGeom prst="rect">
            <a:avLst/>
          </a:prstGeom>
          <a:noFill/>
          <a:ln/>
        </p:spPr>
        <p:txBody>
          <a:bodyPr wrap="square" lIns="0" tIns="0" rIns="0" bIns="0" rtlCol="0" anchor="ctr"/>
          <a:lstStyle/>
          <a:p>
            <a:pPr indent="0" marL="0">
              <a:buNone/>
            </a:pPr>
            <a:r>
              <a:rPr lang="en-US" sz="1700" dirty="0">
                <a:solidFill>
                  <a:srgbClr val="C6DAE2"/>
                </a:solidFill>
                <a:latin typeface="Arial" pitchFamily="34" charset="0"/>
                <a:ea typeface="Arial" pitchFamily="34" charset="-122"/>
                <a:cs typeface="Arial" pitchFamily="34" charset="-120"/>
              </a:rPr>
              <a:t>Immutable values</a:t>
            </a:r>
            <a:endParaRPr lang="en-US" sz="1700" dirty="0"/>
          </a:p>
          <a:p>
            <a:pPr indent="0" marL="0">
              <a:buNone/>
            </a:pPr>
            <a:r>
              <a:rPr lang="en-US" sz="1700" dirty="0">
                <a:solidFill>
                  <a:srgbClr val="C6DAE2"/>
                </a:solidFill>
                <a:latin typeface="Arial" pitchFamily="34" charset="0"/>
                <a:ea typeface="Arial" pitchFamily="34" charset="-122"/>
                <a:cs typeface="Arial" pitchFamily="34" charset="-120"/>
              </a:rPr>
              <a:t>Existing ALERT</a:t>
            </a:r>
            <a:endParaRPr lang="en-US" sz="1700" dirty="0"/>
          </a:p>
          <a:p>
            <a:pPr indent="0" marL="0">
              <a:buNone/>
            </a:pPr>
            <a:r>
              <a:rPr lang="en-US" sz="1700" dirty="0">
                <a:solidFill>
                  <a:srgbClr val="C6DAE2"/>
                </a:solidFill>
                <a:latin typeface="Arial" pitchFamily="34" charset="0"/>
                <a:ea typeface="Arial" pitchFamily="34" charset="-122"/>
                <a:cs typeface="Arial" pitchFamily="34" charset="-120"/>
              </a:rPr>
              <a:t>Quality + sensitivity context</a:t>
            </a:r>
            <a:endParaRPr lang="en-US" sz="1700" dirty="0"/>
          </a:p>
        </p:txBody>
      </p:sp>
      <p:sp>
        <p:nvSpPr>
          <p:cNvPr id="13" name="Text 11"/>
          <p:cNvSpPr/>
          <p:nvPr/>
        </p:nvSpPr>
        <p:spPr>
          <a:xfrm>
            <a:off x="3520440" y="3474720"/>
            <a:ext cx="338328" cy="320040"/>
          </a:xfrm>
          <a:prstGeom prst="rect">
            <a:avLst/>
          </a:prstGeom>
          <a:noFill/>
          <a:ln/>
        </p:spPr>
        <p:txBody>
          <a:bodyPr wrap="square" lIns="0" tIns="0" rIns="0" bIns="0" rtlCol="0" anchor="ctr"/>
          <a:lstStyle/>
          <a:p>
            <a:pPr algn="ctr" indent="0" marL="0">
              <a:buNone/>
            </a:pPr>
            <a:r>
              <a:rPr lang="en-US" sz="2400" dirty="0">
                <a:solidFill>
                  <a:srgbClr val="9ABAC8"/>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3922776" y="1938528"/>
            <a:ext cx="3913632" cy="3566160"/>
          </a:xfrm>
          <a:prstGeom prst="roundRect">
            <a:avLst>
              <a:gd name="adj" fmla="val 3077"/>
            </a:avLst>
          </a:prstGeom>
          <a:solidFill>
            <a:srgbClr val="164E63"/>
          </a:solidFill>
          <a:ln w="10160">
            <a:solidFill>
              <a:srgbClr val="4B8A9B"/>
            </a:solidFill>
            <a:prstDash val="solid"/>
          </a:ln>
        </p:spPr>
      </p:sp>
      <p:sp>
        <p:nvSpPr>
          <p:cNvPr id="15" name="Text 13"/>
          <p:cNvSpPr/>
          <p:nvPr/>
        </p:nvSpPr>
        <p:spPr>
          <a:xfrm>
            <a:off x="4160520" y="2221992"/>
            <a:ext cx="3383280" cy="402336"/>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EVOLUS</a:t>
            </a:r>
            <a:endParaRPr lang="en-US" sz="3100" dirty="0"/>
          </a:p>
        </p:txBody>
      </p:sp>
      <p:sp>
        <p:nvSpPr>
          <p:cNvPr id="16" name="Text 14"/>
          <p:cNvSpPr/>
          <p:nvPr/>
        </p:nvSpPr>
        <p:spPr>
          <a:xfrm>
            <a:off x="4169664" y="2798064"/>
            <a:ext cx="3337560" cy="320040"/>
          </a:xfrm>
          <a:prstGeom prst="rect">
            <a:avLst/>
          </a:prstGeom>
          <a:noFill/>
          <a:ln/>
        </p:spPr>
        <p:txBody>
          <a:bodyPr wrap="square" lIns="0" tIns="0" rIns="0" bIns="0" rtlCol="0" anchor="ctr"/>
          <a:lstStyle/>
          <a:p>
            <a:pPr indent="0" marL="0">
              <a:buNone/>
            </a:pPr>
            <a:r>
              <a:rPr lang="en-US" sz="1600" b="1" dirty="0">
                <a:solidFill>
                  <a:srgbClr val="D2E7EB"/>
                </a:solidFill>
                <a:latin typeface="Arial" pitchFamily="34" charset="0"/>
                <a:ea typeface="Arial" pitchFamily="34" charset="-122"/>
                <a:cs typeface="Arial" pitchFamily="34" charset="-120"/>
              </a:rPr>
              <a:t>Actuarial Signal Investigation</a:t>
            </a:r>
            <a:endParaRPr lang="en-US" sz="1600" dirty="0"/>
          </a:p>
        </p:txBody>
      </p:sp>
      <p:sp>
        <p:nvSpPr>
          <p:cNvPr id="17" name="Shape 15"/>
          <p:cNvSpPr/>
          <p:nvPr/>
        </p:nvSpPr>
        <p:spPr>
          <a:xfrm>
            <a:off x="4169664" y="3310128"/>
            <a:ext cx="3374136" cy="0"/>
          </a:xfrm>
          <a:prstGeom prst="line">
            <a:avLst/>
          </a:prstGeom>
          <a:noFill/>
          <a:ln w="12700">
            <a:solidFill>
              <a:srgbClr val="598C9B"/>
            </a:solidFill>
            <a:prstDash val="solid"/>
          </a:ln>
        </p:spPr>
      </p:sp>
      <p:sp>
        <p:nvSpPr>
          <p:cNvPr id="18" name="Text 16"/>
          <p:cNvSpPr/>
          <p:nvPr/>
        </p:nvSpPr>
        <p:spPr>
          <a:xfrm>
            <a:off x="4169664" y="3547872"/>
            <a:ext cx="3337560" cy="137160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Workflow orchestration</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Knowledge Library context</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Structured-response validation</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Mandatory human review</a:t>
            </a:r>
            <a:endParaRPr lang="en-US" sz="1800" dirty="0"/>
          </a:p>
        </p:txBody>
      </p:sp>
      <p:sp>
        <p:nvSpPr>
          <p:cNvPr id="19" name="Text 17"/>
          <p:cNvSpPr/>
          <p:nvPr/>
        </p:nvSpPr>
        <p:spPr>
          <a:xfrm>
            <a:off x="4169664" y="5056632"/>
            <a:ext cx="3328416" cy="219456"/>
          </a:xfrm>
          <a:prstGeom prst="rect">
            <a:avLst/>
          </a:prstGeom>
          <a:noFill/>
          <a:ln/>
        </p:spPr>
        <p:txBody>
          <a:bodyPr wrap="square" lIns="0" tIns="0" rIns="0" bIns="0" rtlCol="0" anchor="ctr"/>
          <a:lstStyle/>
          <a:p>
            <a:pPr indent="0" marL="0">
              <a:buNone/>
            </a:pPr>
            <a:r>
              <a:rPr lang="en-US" sz="1100" dirty="0">
                <a:solidFill>
                  <a:srgbClr val="B7D7DF"/>
                </a:solidFill>
                <a:latin typeface="Arial" pitchFamily="34" charset="0"/>
                <a:ea typeface="Arial" pitchFamily="34" charset="-122"/>
                <a:cs typeface="Arial" pitchFamily="34" charset="-120"/>
              </a:rPr>
              <a:t>6 indexed documents · checksums verified</a:t>
            </a:r>
            <a:endParaRPr lang="en-US" sz="1100" dirty="0"/>
          </a:p>
        </p:txBody>
      </p:sp>
      <p:sp>
        <p:nvSpPr>
          <p:cNvPr id="20" name="Text 18"/>
          <p:cNvSpPr/>
          <p:nvPr/>
        </p:nvSpPr>
        <p:spPr>
          <a:xfrm>
            <a:off x="7909560" y="3474720"/>
            <a:ext cx="338328" cy="320040"/>
          </a:xfrm>
          <a:prstGeom prst="rect">
            <a:avLst/>
          </a:prstGeom>
          <a:noFill/>
          <a:ln/>
        </p:spPr>
        <p:txBody>
          <a:bodyPr wrap="square" lIns="0" tIns="0" rIns="0" bIns="0" rtlCol="0" anchor="ctr"/>
          <a:lstStyle/>
          <a:p>
            <a:pPr algn="ctr" indent="0" marL="0">
              <a:buNone/>
            </a:pPr>
            <a:r>
              <a:rPr lang="en-US" sz="2400" dirty="0">
                <a:solidFill>
                  <a:srgbClr val="9ABAC8"/>
                </a:solidFill>
                <a:latin typeface="Arial" pitchFamily="34" charset="0"/>
                <a:ea typeface="Arial" pitchFamily="34" charset="-122"/>
                <a:cs typeface="Arial" pitchFamily="34" charset="-120"/>
              </a:rPr>
              <a:t>→</a:t>
            </a:r>
            <a:endParaRPr lang="en-US" sz="2400" dirty="0"/>
          </a:p>
        </p:txBody>
      </p:sp>
      <p:sp>
        <p:nvSpPr>
          <p:cNvPr id="21" name="Shape 19"/>
          <p:cNvSpPr/>
          <p:nvPr/>
        </p:nvSpPr>
        <p:spPr>
          <a:xfrm>
            <a:off x="8321040" y="1938528"/>
            <a:ext cx="3319272" cy="3566160"/>
          </a:xfrm>
          <a:prstGeom prst="roundRect">
            <a:avLst>
              <a:gd name="adj" fmla="val 3306"/>
            </a:avLst>
          </a:prstGeom>
          <a:solidFill>
            <a:srgbClr val="183E51"/>
          </a:solidFill>
          <a:ln w="10160">
            <a:solidFill>
              <a:srgbClr val="365A6D"/>
            </a:solidFill>
            <a:prstDash val="solid"/>
          </a:ln>
        </p:spPr>
      </p:sp>
      <p:sp>
        <p:nvSpPr>
          <p:cNvPr id="22" name="Shape 20"/>
          <p:cNvSpPr/>
          <p:nvPr/>
        </p:nvSpPr>
        <p:spPr>
          <a:xfrm>
            <a:off x="8531352" y="2167128"/>
            <a:ext cx="2651760" cy="320040"/>
          </a:xfrm>
          <a:prstGeom prst="roundRect">
            <a:avLst>
              <a:gd name="adj" fmla="val 20000"/>
            </a:avLst>
          </a:prstGeom>
          <a:solidFill>
            <a:srgbClr val="234E5D"/>
          </a:solidFill>
          <a:ln w="10160">
            <a:solidFill>
              <a:srgbClr val="234E5D"/>
            </a:solidFill>
            <a:prstDash val="solid"/>
          </a:ln>
        </p:spPr>
      </p:sp>
      <p:sp>
        <p:nvSpPr>
          <p:cNvPr id="23" name="Text 21"/>
          <p:cNvSpPr/>
          <p:nvPr/>
        </p:nvSpPr>
        <p:spPr>
          <a:xfrm>
            <a:off x="8641080" y="2194560"/>
            <a:ext cx="2432304" cy="256032"/>
          </a:xfrm>
          <a:prstGeom prst="rect">
            <a:avLst/>
          </a:prstGeom>
          <a:noFill/>
          <a:ln/>
        </p:spPr>
        <p:txBody>
          <a:bodyPr wrap="square" lIns="0" tIns="0" rIns="0" bIns="0" rtlCol="0" anchor="ctr"/>
          <a:lstStyle/>
          <a:p>
            <a:pPr indent="0" marL="0">
              <a:buNone/>
            </a:pPr>
            <a:r>
              <a:rPr lang="en-US" sz="1100" b="1" spc="100" kern="0" dirty="0">
                <a:solidFill>
                  <a:srgbClr val="A9DCD7"/>
                </a:solidFill>
                <a:latin typeface="Arial" pitchFamily="34" charset="0"/>
                <a:ea typeface="Arial" pitchFamily="34" charset="-122"/>
                <a:cs typeface="Arial" pitchFamily="34" charset="-120"/>
              </a:rPr>
              <a:t>02 / INFERENCE</a:t>
            </a:r>
            <a:endParaRPr lang="en-US" sz="1100" dirty="0"/>
          </a:p>
        </p:txBody>
      </p:sp>
      <p:sp>
        <p:nvSpPr>
          <p:cNvPr id="24" name="Text 22"/>
          <p:cNvSpPr/>
          <p:nvPr/>
        </p:nvSpPr>
        <p:spPr>
          <a:xfrm>
            <a:off x="8540496" y="2743200"/>
            <a:ext cx="2816352" cy="950976"/>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AMD</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Token Factory</a:t>
            </a:r>
            <a:endParaRPr lang="en-US" sz="2700" dirty="0"/>
          </a:p>
        </p:txBody>
      </p:sp>
      <p:sp>
        <p:nvSpPr>
          <p:cNvPr id="25" name="Text 23"/>
          <p:cNvSpPr/>
          <p:nvPr/>
        </p:nvSpPr>
        <p:spPr>
          <a:xfrm>
            <a:off x="8540496" y="3931920"/>
            <a:ext cx="2788920" cy="320040"/>
          </a:xfrm>
          <a:prstGeom prst="rect">
            <a:avLst/>
          </a:prstGeom>
          <a:noFill/>
          <a:ln/>
        </p:spPr>
        <p:txBody>
          <a:bodyPr wrap="square" lIns="0" tIns="0" rIns="0" bIns="0" rtlCol="0" anchor="ctr"/>
          <a:lstStyle/>
          <a:p>
            <a:pPr indent="0" marL="0">
              <a:buNone/>
            </a:pPr>
            <a:r>
              <a:rPr lang="en-US" sz="1900" b="1" dirty="0">
                <a:solidFill>
                  <a:srgbClr val="B7E1DC"/>
                </a:solidFill>
                <a:latin typeface="Arial" pitchFamily="34" charset="0"/>
                <a:ea typeface="Arial" pitchFamily="34" charset="-122"/>
                <a:cs typeface="Arial" pitchFamily="34" charset="-120"/>
              </a:rPr>
              <a:t>DeepSeek-V4-Flash</a:t>
            </a:r>
            <a:endParaRPr lang="en-US" sz="1900" dirty="0"/>
          </a:p>
        </p:txBody>
      </p:sp>
      <p:sp>
        <p:nvSpPr>
          <p:cNvPr id="26" name="Text 24"/>
          <p:cNvSpPr/>
          <p:nvPr/>
        </p:nvSpPr>
        <p:spPr>
          <a:xfrm>
            <a:off x="8540496" y="4553712"/>
            <a:ext cx="2788920" cy="640080"/>
          </a:xfrm>
          <a:prstGeom prst="rect">
            <a:avLst/>
          </a:prstGeom>
          <a:noFill/>
          <a:ln/>
        </p:spPr>
        <p:txBody>
          <a:bodyPr wrap="square" lIns="0" tIns="0" rIns="0" bIns="0" rtlCol="0" anchor="ctr"/>
          <a:lstStyle/>
          <a:p>
            <a:pPr indent="0" marL="0">
              <a:buNone/>
            </a:pPr>
            <a:r>
              <a:rPr lang="en-US" sz="1600" dirty="0">
                <a:solidFill>
                  <a:srgbClr val="C6DAE2"/>
                </a:solidFill>
                <a:latin typeface="Arial" pitchFamily="34" charset="0"/>
                <a:ea typeface="Arial" pitchFamily="34" charset="-122"/>
                <a:cs typeface="Arial" pitchFamily="34" charset="-120"/>
              </a:rPr>
              <a:t>OpenAI-compatible</a:t>
            </a:r>
            <a:endParaRPr lang="en-US" sz="1600" dirty="0"/>
          </a:p>
          <a:p>
            <a:pPr indent="0" marL="0">
              <a:buNone/>
            </a:pPr>
            <a:r>
              <a:rPr lang="en-US" sz="1600" dirty="0">
                <a:solidFill>
                  <a:srgbClr val="C6DAE2"/>
                </a:solidFill>
                <a:latin typeface="Arial" pitchFamily="34" charset="0"/>
                <a:ea typeface="Arial" pitchFamily="34" charset="-122"/>
                <a:cs typeface="Arial" pitchFamily="34" charset="-120"/>
              </a:rPr>
              <a:t>Chat Completions API</a:t>
            </a:r>
            <a:endParaRPr lang="en-US" sz="1600" dirty="0"/>
          </a:p>
        </p:txBody>
      </p:sp>
      <p:sp>
        <p:nvSpPr>
          <p:cNvPr id="27" name="Text 25"/>
          <p:cNvSpPr/>
          <p:nvPr/>
        </p:nvSpPr>
        <p:spPr>
          <a:xfrm>
            <a:off x="566928" y="5779008"/>
            <a:ext cx="11045952" cy="36576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Structured investigation  →  HUMAN_REVIEW_REQUIRED</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06 / A DELIBERATE METHODOLOGICAL CHOICE</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Broad market coverage.</a:t>
            </a:r>
            <a:endParaRPr lang="en-US" sz="3100" dirty="0"/>
          </a:p>
          <a:p>
            <a:pPr indent="0" marL="0">
              <a:buNone/>
            </a:pPr>
            <a:r>
              <a:rPr lang="en-US" sz="3100" b="1" dirty="0">
                <a:solidFill>
                  <a:srgbClr val="183543"/>
                </a:solidFill>
                <a:latin typeface="Arial" pitchFamily="34" charset="0"/>
                <a:ea typeface="Arial" pitchFamily="34" charset="-122"/>
                <a:cs typeface="Arial" pitchFamily="34" charset="-120"/>
              </a:rPr>
              <a:t>Limited temporal granularity.</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07</a:t>
            </a:r>
            <a:endParaRPr lang="en-US" sz="1000" dirty="0"/>
          </a:p>
        </p:txBody>
      </p:sp>
      <p:sp>
        <p:nvSpPr>
          <p:cNvPr id="8" name="Shape 6"/>
          <p:cNvSpPr/>
          <p:nvPr/>
        </p:nvSpPr>
        <p:spPr>
          <a:xfrm>
            <a:off x="548640" y="2057400"/>
            <a:ext cx="3447288" cy="1371600"/>
          </a:xfrm>
          <a:prstGeom prst="roundRect">
            <a:avLst>
              <a:gd name="adj" fmla="val 8000"/>
            </a:avLst>
          </a:prstGeom>
          <a:solidFill>
            <a:srgbClr val="FFFFFF"/>
          </a:solidFill>
          <a:ln w="10160">
            <a:solidFill>
              <a:srgbClr val="DCE7EA"/>
            </a:solidFill>
            <a:prstDash val="solid"/>
          </a:ln>
        </p:spPr>
      </p:sp>
      <p:sp>
        <p:nvSpPr>
          <p:cNvPr id="9" name="Text 7"/>
          <p:cNvSpPr/>
          <p:nvPr/>
        </p:nvSpPr>
        <p:spPr>
          <a:xfrm>
            <a:off x="749808" y="2267712"/>
            <a:ext cx="3017520" cy="356616"/>
          </a:xfrm>
          <a:prstGeom prst="rect">
            <a:avLst/>
          </a:prstGeom>
          <a:noFill/>
          <a:ln/>
        </p:spPr>
        <p:txBody>
          <a:bodyPr wrap="square" lIns="0" tIns="0" rIns="0" bIns="0" rtlCol="0" anchor="ctr"/>
          <a:lstStyle/>
          <a:p>
            <a:pPr indent="0" marL="0">
              <a:buNone/>
            </a:pPr>
            <a:r>
              <a:rPr lang="en-US" sz="2700" b="1" dirty="0">
                <a:solidFill>
                  <a:srgbClr val="164E63"/>
                </a:solidFill>
                <a:latin typeface="Arial" pitchFamily="34" charset="0"/>
                <a:ea typeface="Arial" pitchFamily="34" charset="-122"/>
                <a:cs typeface="Arial" pitchFamily="34" charset="-120"/>
              </a:rPr>
              <a:t>HONDURAS</a:t>
            </a:r>
            <a:endParaRPr lang="en-US" sz="2700" dirty="0"/>
          </a:p>
        </p:txBody>
      </p:sp>
      <p:sp>
        <p:nvSpPr>
          <p:cNvPr id="10" name="Text 8"/>
          <p:cNvSpPr/>
          <p:nvPr/>
        </p:nvSpPr>
        <p:spPr>
          <a:xfrm>
            <a:off x="749808" y="2834640"/>
            <a:ext cx="3017520" cy="246888"/>
          </a:xfrm>
          <a:prstGeom prst="rect">
            <a:avLst/>
          </a:prstGeom>
          <a:noFill/>
          <a:ln/>
        </p:spPr>
        <p:txBody>
          <a:bodyPr wrap="square" lIns="0" tIns="0" rIns="0" bIns="0" rtlCol="0" anchor="ctr"/>
          <a:lstStyle/>
          <a:p>
            <a:pPr indent="0" marL="0">
              <a:buNone/>
            </a:pPr>
            <a:r>
              <a:rPr lang="en-US" sz="1400" dirty="0">
                <a:solidFill>
                  <a:srgbClr val="607D89"/>
                </a:solidFill>
                <a:latin typeface="Arial" pitchFamily="34" charset="0"/>
                <a:ea typeface="Arial" pitchFamily="34" charset="-122"/>
                <a:cs typeface="Arial" pitchFamily="34" charset="-120"/>
              </a:rPr>
              <a:t>Available motor-insurance market</a:t>
            </a:r>
            <a:endParaRPr lang="en-US" sz="1400" dirty="0"/>
          </a:p>
        </p:txBody>
      </p:sp>
      <p:sp>
        <p:nvSpPr>
          <p:cNvPr id="11" name="Shape 9"/>
          <p:cNvSpPr/>
          <p:nvPr/>
        </p:nvSpPr>
        <p:spPr>
          <a:xfrm>
            <a:off x="4178808" y="2057400"/>
            <a:ext cx="3447288" cy="1371600"/>
          </a:xfrm>
          <a:prstGeom prst="roundRect">
            <a:avLst>
              <a:gd name="adj" fmla="val 8000"/>
            </a:avLst>
          </a:prstGeom>
          <a:solidFill>
            <a:srgbClr val="FFFFFF"/>
          </a:solidFill>
          <a:ln w="10160">
            <a:solidFill>
              <a:srgbClr val="DCE7EA"/>
            </a:solidFill>
            <a:prstDash val="solid"/>
          </a:ln>
        </p:spPr>
      </p:sp>
      <p:sp>
        <p:nvSpPr>
          <p:cNvPr id="12" name="Text 10"/>
          <p:cNvSpPr/>
          <p:nvPr/>
        </p:nvSpPr>
        <p:spPr>
          <a:xfrm>
            <a:off x="4389120" y="2267712"/>
            <a:ext cx="3017520" cy="356616"/>
          </a:xfrm>
          <a:prstGeom prst="rect">
            <a:avLst/>
          </a:prstGeom>
          <a:noFill/>
          <a:ln/>
        </p:spPr>
        <p:txBody>
          <a:bodyPr wrap="square" lIns="0" tIns="0" rIns="0" bIns="0" rtlCol="0" anchor="ctr"/>
          <a:lstStyle/>
          <a:p>
            <a:pPr indent="0" marL="0">
              <a:buNone/>
            </a:pPr>
            <a:r>
              <a:rPr lang="en-US" sz="2900" b="1" dirty="0">
                <a:solidFill>
                  <a:srgbClr val="164E63"/>
                </a:solidFill>
                <a:latin typeface="Arial" pitchFamily="34" charset="0"/>
                <a:ea typeface="Arial" pitchFamily="34" charset="-122"/>
                <a:cs typeface="Arial" pitchFamily="34" charset="-120"/>
              </a:rPr>
              <a:t>2018–2026</a:t>
            </a:r>
            <a:endParaRPr lang="en-US" sz="2900" dirty="0"/>
          </a:p>
        </p:txBody>
      </p:sp>
      <p:sp>
        <p:nvSpPr>
          <p:cNvPr id="13" name="Text 11"/>
          <p:cNvSpPr/>
          <p:nvPr/>
        </p:nvSpPr>
        <p:spPr>
          <a:xfrm>
            <a:off x="4389120" y="2834640"/>
            <a:ext cx="3017520" cy="246888"/>
          </a:xfrm>
          <a:prstGeom prst="rect">
            <a:avLst/>
          </a:prstGeom>
          <a:noFill/>
          <a:ln/>
        </p:spPr>
        <p:txBody>
          <a:bodyPr wrap="square" lIns="0" tIns="0" rIns="0" bIns="0" rtlCol="0" anchor="ctr"/>
          <a:lstStyle/>
          <a:p>
            <a:pPr indent="0" marL="0">
              <a:buNone/>
            </a:pPr>
            <a:r>
              <a:rPr lang="en-US" sz="1400" dirty="0">
                <a:solidFill>
                  <a:srgbClr val="607D89"/>
                </a:solidFill>
                <a:latin typeface="Arial" pitchFamily="34" charset="0"/>
                <a:ea typeface="Arial" pitchFamily="34" charset="-122"/>
                <a:cs typeface="Arial" pitchFamily="34" charset="-120"/>
              </a:rPr>
              <a:t>Historical source snapshot</a:t>
            </a:r>
            <a:endParaRPr lang="en-US" sz="1400" dirty="0"/>
          </a:p>
        </p:txBody>
      </p:sp>
      <p:sp>
        <p:nvSpPr>
          <p:cNvPr id="14" name="Shape 12"/>
          <p:cNvSpPr/>
          <p:nvPr/>
        </p:nvSpPr>
        <p:spPr>
          <a:xfrm>
            <a:off x="7808976" y="2057400"/>
            <a:ext cx="3822192" cy="1371600"/>
          </a:xfrm>
          <a:prstGeom prst="roundRect">
            <a:avLst>
              <a:gd name="adj" fmla="val 8000"/>
            </a:avLst>
          </a:prstGeom>
          <a:solidFill>
            <a:srgbClr val="EAF2F4"/>
          </a:solidFill>
          <a:ln w="10160">
            <a:solidFill>
              <a:srgbClr val="EAF2F4"/>
            </a:solidFill>
            <a:prstDash val="solid"/>
          </a:ln>
        </p:spPr>
      </p:sp>
      <p:sp>
        <p:nvSpPr>
          <p:cNvPr id="15" name="Text 13"/>
          <p:cNvSpPr/>
          <p:nvPr/>
        </p:nvSpPr>
        <p:spPr>
          <a:xfrm>
            <a:off x="8019288" y="2267712"/>
            <a:ext cx="3383280" cy="356616"/>
          </a:xfrm>
          <a:prstGeom prst="rect">
            <a:avLst/>
          </a:prstGeom>
          <a:noFill/>
          <a:ln/>
        </p:spPr>
        <p:txBody>
          <a:bodyPr wrap="square" lIns="0" tIns="0" rIns="0" bIns="0" rtlCol="0" anchor="ctr"/>
          <a:lstStyle/>
          <a:p>
            <a:pPr indent="0" marL="0">
              <a:buNone/>
            </a:pPr>
            <a:r>
              <a:rPr lang="en-US" sz="2900" b="1" dirty="0">
                <a:solidFill>
                  <a:srgbClr val="29877D"/>
                </a:solidFill>
                <a:latin typeface="Arial" pitchFamily="34" charset="0"/>
                <a:ea typeface="Arial" pitchFamily="34" charset="-122"/>
                <a:cs typeface="Arial" pitchFamily="34" charset="-120"/>
              </a:rPr>
              <a:t>≈100 months</a:t>
            </a:r>
            <a:endParaRPr lang="en-US" sz="2900" dirty="0"/>
          </a:p>
        </p:txBody>
      </p:sp>
      <p:sp>
        <p:nvSpPr>
          <p:cNvPr id="16" name="Text 14"/>
          <p:cNvSpPr/>
          <p:nvPr/>
        </p:nvSpPr>
        <p:spPr>
          <a:xfrm>
            <a:off x="8019288" y="2834640"/>
            <a:ext cx="3383280" cy="246888"/>
          </a:xfrm>
          <a:prstGeom prst="rect">
            <a:avLst/>
          </a:prstGeom>
          <a:noFill/>
          <a:ln/>
        </p:spPr>
        <p:txBody>
          <a:bodyPr wrap="square" lIns="0" tIns="0" rIns="0" bIns="0" rtlCol="0" anchor="ctr"/>
          <a:lstStyle/>
          <a:p>
            <a:pPr indent="0" marL="0">
              <a:buNone/>
            </a:pPr>
            <a:r>
              <a:rPr lang="en-US" sz="1400" dirty="0">
                <a:solidFill>
                  <a:srgbClr val="607D89"/>
                </a:solidFill>
                <a:latin typeface="Arial" pitchFamily="34" charset="0"/>
                <a:ea typeface="Arial" pitchFamily="34" charset="-122"/>
                <a:cs typeface="Arial" pitchFamily="34" charset="-120"/>
              </a:rPr>
              <a:t>Per primary time series</a:t>
            </a:r>
            <a:endParaRPr lang="en-US" sz="1400" dirty="0"/>
          </a:p>
        </p:txBody>
      </p:sp>
      <p:sp>
        <p:nvSpPr>
          <p:cNvPr id="17" name="Text 15"/>
          <p:cNvSpPr/>
          <p:nvPr/>
        </p:nvSpPr>
        <p:spPr>
          <a:xfrm>
            <a:off x="594360" y="3749040"/>
            <a:ext cx="10972800" cy="438912"/>
          </a:xfrm>
          <a:prstGeom prst="rect">
            <a:avLst/>
          </a:prstGeom>
          <a:noFill/>
          <a:ln/>
        </p:spPr>
        <p:txBody>
          <a:bodyPr wrap="square" lIns="0" tIns="0" rIns="0" bIns="0" rtlCol="0" anchor="ctr"/>
          <a:lstStyle/>
          <a:p>
            <a:pPr indent="0" marL="0">
              <a:buNone/>
            </a:pPr>
            <a:r>
              <a:rPr lang="en-US" sz="2800" b="1" dirty="0">
                <a:solidFill>
                  <a:srgbClr val="183543"/>
                </a:solidFill>
                <a:latin typeface="Arial" pitchFamily="34" charset="0"/>
                <a:ea typeface="Arial" pitchFamily="34" charset="-122"/>
                <a:cs typeface="Arial" pitchFamily="34" charset="-120"/>
              </a:rPr>
              <a:t>An interpretable statistical baseline</a:t>
            </a:r>
            <a:endParaRPr lang="en-US" sz="2800" dirty="0"/>
          </a:p>
        </p:txBody>
      </p:sp>
      <p:sp>
        <p:nvSpPr>
          <p:cNvPr id="18" name="Text 16"/>
          <p:cNvSpPr/>
          <p:nvPr/>
        </p:nvSpPr>
        <p:spPr>
          <a:xfrm>
            <a:off x="594360" y="4334256"/>
            <a:ext cx="10972800" cy="283464"/>
          </a:xfrm>
          <a:prstGeom prst="rect">
            <a:avLst/>
          </a:prstGeom>
          <a:noFill/>
          <a:ln/>
        </p:spPr>
        <p:txBody>
          <a:bodyPr wrap="square" lIns="0" tIns="0" rIns="0" bIns="0" rtlCol="0" anchor="ctr"/>
          <a:lstStyle/>
          <a:p>
            <a:pPr indent="0" marL="0">
              <a:buNone/>
            </a:pPr>
            <a:r>
              <a:rPr lang="en-US" sz="1900" dirty="0">
                <a:solidFill>
                  <a:srgbClr val="607D89"/>
                </a:solidFill>
                <a:latin typeface="Arial" pitchFamily="34" charset="0"/>
                <a:ea typeface="Arial" pitchFamily="34" charset="-122"/>
                <a:cs typeface="Arial" pitchFamily="34" charset="-120"/>
              </a:rPr>
              <a:t>Complex detectors could overfit a small temporal sample.</a:t>
            </a:r>
            <a:endParaRPr lang="en-US" sz="1900" dirty="0"/>
          </a:p>
        </p:txBody>
      </p:sp>
      <p:sp>
        <p:nvSpPr>
          <p:cNvPr id="19" name="Shape 17"/>
          <p:cNvSpPr/>
          <p:nvPr/>
        </p:nvSpPr>
        <p:spPr>
          <a:xfrm>
            <a:off x="594360" y="4919472"/>
            <a:ext cx="3401568" cy="320040"/>
          </a:xfrm>
          <a:prstGeom prst="roundRect">
            <a:avLst>
              <a:gd name="adj" fmla="val 20000"/>
            </a:avLst>
          </a:prstGeom>
          <a:solidFill>
            <a:srgbClr val="EAF2F4"/>
          </a:solidFill>
          <a:ln w="10160">
            <a:solidFill>
              <a:srgbClr val="EAF2F4"/>
            </a:solidFill>
            <a:prstDash val="solid"/>
          </a:ln>
        </p:spPr>
      </p:sp>
      <p:sp>
        <p:nvSpPr>
          <p:cNvPr id="20" name="Text 18"/>
          <p:cNvSpPr/>
          <p:nvPr/>
        </p:nvSpPr>
        <p:spPr>
          <a:xfrm>
            <a:off x="704088" y="4946904"/>
            <a:ext cx="3182112" cy="256032"/>
          </a:xfrm>
          <a:prstGeom prst="rect">
            <a:avLst/>
          </a:prstGeom>
          <a:noFill/>
          <a:ln/>
        </p:spPr>
        <p:txBody>
          <a:bodyPr wrap="square" lIns="0" tIns="0" rIns="0" bIns="0" rtlCol="0" anchor="ctr"/>
          <a:lstStyle/>
          <a:p>
            <a:pPr indent="0" marL="0">
              <a:buNone/>
            </a:pPr>
            <a:r>
              <a:rPr lang="en-US" sz="1100" b="1" spc="100" kern="0" dirty="0">
                <a:solidFill>
                  <a:srgbClr val="164E63"/>
                </a:solidFill>
                <a:latin typeface="Arial" pitchFamily="34" charset="0"/>
                <a:ea typeface="Arial" pitchFamily="34" charset="-122"/>
                <a:cs typeface="Arial" pitchFamily="34" charset="-120"/>
              </a:rPr>
              <a:t>AUDITABLE</a:t>
            </a:r>
            <a:endParaRPr lang="en-US" sz="1100" dirty="0"/>
          </a:p>
        </p:txBody>
      </p:sp>
      <p:sp>
        <p:nvSpPr>
          <p:cNvPr id="21" name="Shape 19"/>
          <p:cNvSpPr/>
          <p:nvPr/>
        </p:nvSpPr>
        <p:spPr>
          <a:xfrm>
            <a:off x="4379976" y="4919472"/>
            <a:ext cx="3401568" cy="320040"/>
          </a:xfrm>
          <a:prstGeom prst="roundRect">
            <a:avLst>
              <a:gd name="adj" fmla="val 20000"/>
            </a:avLst>
          </a:prstGeom>
          <a:solidFill>
            <a:srgbClr val="EAF2F4"/>
          </a:solidFill>
          <a:ln w="10160">
            <a:solidFill>
              <a:srgbClr val="EAF2F4"/>
            </a:solidFill>
            <a:prstDash val="solid"/>
          </a:ln>
        </p:spPr>
      </p:sp>
      <p:sp>
        <p:nvSpPr>
          <p:cNvPr id="22" name="Text 20"/>
          <p:cNvSpPr/>
          <p:nvPr/>
        </p:nvSpPr>
        <p:spPr>
          <a:xfrm>
            <a:off x="4489704" y="4946904"/>
            <a:ext cx="3182112" cy="256032"/>
          </a:xfrm>
          <a:prstGeom prst="rect">
            <a:avLst/>
          </a:prstGeom>
          <a:noFill/>
          <a:ln/>
        </p:spPr>
        <p:txBody>
          <a:bodyPr wrap="square" lIns="0" tIns="0" rIns="0" bIns="0" rtlCol="0" anchor="ctr"/>
          <a:lstStyle/>
          <a:p>
            <a:pPr indent="0" marL="0">
              <a:buNone/>
            </a:pPr>
            <a:r>
              <a:rPr lang="en-US" sz="1100" b="1" spc="100" kern="0" dirty="0">
                <a:solidFill>
                  <a:srgbClr val="164E63"/>
                </a:solidFill>
                <a:latin typeface="Arial" pitchFamily="34" charset="0"/>
                <a:ea typeface="Arial" pitchFamily="34" charset="-122"/>
                <a:cs typeface="Arial" pitchFamily="34" charset="-120"/>
              </a:rPr>
              <a:t>REPRODUCIBLE</a:t>
            </a:r>
            <a:endParaRPr lang="en-US" sz="1100" dirty="0"/>
          </a:p>
        </p:txBody>
      </p:sp>
      <p:sp>
        <p:nvSpPr>
          <p:cNvPr id="23" name="Shape 21"/>
          <p:cNvSpPr/>
          <p:nvPr/>
        </p:nvSpPr>
        <p:spPr>
          <a:xfrm>
            <a:off x="8165592" y="4919472"/>
            <a:ext cx="3401568" cy="320040"/>
          </a:xfrm>
          <a:prstGeom prst="roundRect">
            <a:avLst>
              <a:gd name="adj" fmla="val 20000"/>
            </a:avLst>
          </a:prstGeom>
          <a:solidFill>
            <a:srgbClr val="EAF2F4"/>
          </a:solidFill>
          <a:ln w="10160">
            <a:solidFill>
              <a:srgbClr val="EAF2F4"/>
            </a:solidFill>
            <a:prstDash val="solid"/>
          </a:ln>
        </p:spPr>
      </p:sp>
      <p:sp>
        <p:nvSpPr>
          <p:cNvPr id="24" name="Text 22"/>
          <p:cNvSpPr/>
          <p:nvPr/>
        </p:nvSpPr>
        <p:spPr>
          <a:xfrm>
            <a:off x="8275320" y="4946904"/>
            <a:ext cx="3182112" cy="256032"/>
          </a:xfrm>
          <a:prstGeom prst="rect">
            <a:avLst/>
          </a:prstGeom>
          <a:noFill/>
          <a:ln/>
        </p:spPr>
        <p:txBody>
          <a:bodyPr wrap="square" lIns="0" tIns="0" rIns="0" bIns="0" rtlCol="0" anchor="ctr"/>
          <a:lstStyle/>
          <a:p>
            <a:pPr indent="0" marL="0">
              <a:buNone/>
            </a:pPr>
            <a:r>
              <a:rPr lang="en-US" sz="1100" b="1" spc="100" kern="0" dirty="0">
                <a:solidFill>
                  <a:srgbClr val="164E63"/>
                </a:solidFill>
                <a:latin typeface="Arial" pitchFamily="34" charset="0"/>
                <a:ea typeface="Arial" pitchFamily="34" charset="-122"/>
                <a:cs typeface="Arial" pitchFamily="34" charset="-120"/>
              </a:rPr>
              <a:t>TRANSPARENT</a:t>
            </a:r>
            <a:endParaRPr lang="en-US" sz="1100" dirty="0"/>
          </a:p>
        </p:txBody>
      </p:sp>
      <p:sp>
        <p:nvSpPr>
          <p:cNvPr id="25" name="Text 23"/>
          <p:cNvSpPr/>
          <p:nvPr/>
        </p:nvSpPr>
        <p:spPr>
          <a:xfrm>
            <a:off x="594360" y="5550408"/>
            <a:ext cx="10881360" cy="210312"/>
          </a:xfrm>
          <a:prstGeom prst="rect">
            <a:avLst/>
          </a:prstGeom>
          <a:noFill/>
          <a:ln/>
        </p:spPr>
        <p:txBody>
          <a:bodyPr wrap="square" lIns="0" tIns="0" rIns="0" bIns="0" rtlCol="0" anchor="ctr"/>
          <a:lstStyle/>
          <a:p>
            <a:pPr indent="0" marL="0">
              <a:buNone/>
            </a:pPr>
            <a:r>
              <a:rPr lang="en-US" sz="1100" b="1" spc="100" kern="0" dirty="0">
                <a:solidFill>
                  <a:srgbClr val="29877D"/>
                </a:solidFill>
                <a:latin typeface="Arial" pitchFamily="34" charset="0"/>
                <a:ea typeface="Arial" pitchFamily="34" charset="-122"/>
                <a:cs typeface="Arial" pitchFamily="34" charset="-120"/>
              </a:rPr>
              <a:t>NEXT, IF RICHER DATA BECOMES AVAILABLE</a:t>
            </a:r>
            <a:endParaRPr lang="en-US" sz="1100" dirty="0"/>
          </a:p>
        </p:txBody>
      </p:sp>
      <p:sp>
        <p:nvSpPr>
          <p:cNvPr id="26" name="Text 24"/>
          <p:cNvSpPr/>
          <p:nvPr/>
        </p:nvSpPr>
        <p:spPr>
          <a:xfrm>
            <a:off x="594360" y="5916168"/>
            <a:ext cx="10927080" cy="283464"/>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Claim-level frequency + severity + richer variables → benchmark ML against this baseline.</a:t>
            </a:r>
            <a:endParaRPr lang="en-US" sz="1800" dirty="0"/>
          </a:p>
        </p:txBody>
      </p:sp>
      <p:sp>
        <p:nvSpPr>
          <p:cNvPr id="27" name="Text 25"/>
          <p:cNvSpPr/>
          <p:nvPr/>
        </p:nvSpPr>
        <p:spPr>
          <a:xfrm>
            <a:off x="3063240" y="6492240"/>
            <a:ext cx="7909560" cy="201168"/>
          </a:xfrm>
          <a:prstGeom prst="rect">
            <a:avLst/>
          </a:prstGeom>
          <a:solidFill>
            <a:srgbClr val="F6F9FA"/>
          </a:solid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Monthly aggregates · Possible source revisions · Exploratory materiality</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A"/>
        </a:solidFill>
      </p:bgPr>
    </p:bg>
    <p:spTree>
      <p:nvGrpSpPr>
        <p:cNvPr id="1" name=""/>
        <p:cNvGrpSpPr/>
        <p:nvPr/>
      </p:nvGrpSpPr>
      <p:grpSpPr>
        <a:xfrm>
          <a:off x="0" y="0"/>
          <a:ext cx="0" cy="0"/>
          <a:chOff x="0" y="0"/>
          <a:chExt cx="0" cy="0"/>
        </a:xfrm>
      </p:grpSpPr>
      <p:sp>
        <p:nvSpPr>
          <p:cNvPr id="2" name="Text 0"/>
          <p:cNvSpPr/>
          <p:nvPr/>
        </p:nvSpPr>
        <p:spPr>
          <a:xfrm>
            <a:off x="512064" y="347472"/>
            <a:ext cx="10881360" cy="201168"/>
          </a:xfrm>
          <a:prstGeom prst="rect">
            <a:avLst/>
          </a:prstGeom>
          <a:noFill/>
          <a:ln/>
        </p:spPr>
        <p:txBody>
          <a:bodyPr wrap="square" lIns="0" tIns="0" rIns="0" bIns="0" rtlCol="0" anchor="ctr"/>
          <a:lstStyle/>
          <a:p>
            <a:pPr indent="0" marL="0">
              <a:buNone/>
            </a:pPr>
            <a:r>
              <a:rPr lang="en-US" sz="1000" b="1" spc="240" kern="0" dirty="0">
                <a:solidFill>
                  <a:srgbClr val="29877D"/>
                </a:solidFill>
                <a:latin typeface="Arial" pitchFamily="34" charset="0"/>
                <a:ea typeface="Arial" pitchFamily="34" charset="-122"/>
                <a:cs typeface="Arial" pitchFamily="34" charset="-120"/>
              </a:rPr>
              <a:t>07 / LIVE PRODUCT · HONEST VALIDATION</a:t>
            </a:r>
            <a:endParaRPr lang="en-US" sz="1000" dirty="0"/>
          </a:p>
        </p:txBody>
      </p:sp>
      <p:sp>
        <p:nvSpPr>
          <p:cNvPr id="3" name="Text 1"/>
          <p:cNvSpPr/>
          <p:nvPr/>
        </p:nvSpPr>
        <p:spPr>
          <a:xfrm>
            <a:off x="502920" y="804672"/>
            <a:ext cx="11064240" cy="868680"/>
          </a:xfrm>
          <a:prstGeom prst="rect">
            <a:avLst/>
          </a:prstGeom>
          <a:noFill/>
          <a:ln/>
        </p:spPr>
        <p:txBody>
          <a:bodyPr wrap="square" lIns="0" tIns="0" rIns="0" bIns="0" rtlCol="0" anchor="ctr"/>
          <a:lstStyle/>
          <a:p>
            <a:pPr indent="0" marL="0">
              <a:buNone/>
            </a:pPr>
            <a:r>
              <a:rPr lang="en-US" sz="3100" b="1" dirty="0">
                <a:solidFill>
                  <a:srgbClr val="183543"/>
                </a:solidFill>
                <a:latin typeface="Arial" pitchFamily="34" charset="0"/>
                <a:ea typeface="Arial" pitchFamily="34" charset="-122"/>
                <a:cs typeface="Arial" pitchFamily="34" charset="-120"/>
              </a:rPr>
              <a:t>From public data to a production investigation</a:t>
            </a:r>
            <a:endParaRPr lang="en-US" sz="3100" dirty="0"/>
          </a:p>
        </p:txBody>
      </p:sp>
      <p:sp>
        <p:nvSpPr>
          <p:cNvPr id="4" name="Shape 2"/>
          <p:cNvSpPr/>
          <p:nvPr/>
        </p:nvSpPr>
        <p:spPr>
          <a:xfrm>
            <a:off x="502920" y="6437376"/>
            <a:ext cx="11183112" cy="0"/>
          </a:xfrm>
          <a:prstGeom prst="line">
            <a:avLst/>
          </a:prstGeom>
          <a:noFill/>
          <a:ln w="8890">
            <a:solidFill>
              <a:srgbClr val="DCE7EA"/>
            </a:solidFill>
            <a:prstDash val="solid"/>
          </a:ln>
        </p:spPr>
      </p:sp>
      <p:sp>
        <p:nvSpPr>
          <p:cNvPr id="5" name="Text 3"/>
          <p:cNvSpPr/>
          <p:nvPr/>
        </p:nvSpPr>
        <p:spPr>
          <a:xfrm>
            <a:off x="502920" y="6510528"/>
            <a:ext cx="2743200" cy="173736"/>
          </a:xfrm>
          <a:prstGeom prst="rect">
            <a:avLst/>
          </a:prstGeom>
          <a:noFill/>
          <a:ln/>
        </p:spPr>
        <p:txBody>
          <a:bodyPr wrap="square" lIns="0" tIns="0" rIns="0" bIns="0" rtlCol="0" anchor="ctr"/>
          <a:lstStyle/>
          <a:p>
            <a:pPr indent="0" marL="0">
              <a:buNone/>
            </a:pPr>
            <a:r>
              <a:rPr lang="en-US" sz="850" b="1" spc="130" kern="0" dirty="0">
                <a:solidFill>
                  <a:srgbClr val="607D89"/>
                </a:solidFill>
                <a:latin typeface="Arial" pitchFamily="34" charset="0"/>
                <a:ea typeface="Arial" pitchFamily="34" charset="-122"/>
                <a:cs typeface="Arial" pitchFamily="34" charset="-120"/>
              </a:rPr>
              <a:t>ACTUARIAL SIGNAL RADAR</a:t>
            </a:r>
            <a:endParaRPr lang="en-US" sz="850" dirty="0"/>
          </a:p>
        </p:txBody>
      </p:sp>
      <p:sp>
        <p:nvSpPr>
          <p:cNvPr id="6" name="Text 4"/>
          <p:cNvSpPr/>
          <p:nvPr/>
        </p:nvSpPr>
        <p:spPr>
          <a:xfrm>
            <a:off x="3063240" y="6492240"/>
            <a:ext cx="7909560" cy="201168"/>
          </a:xfrm>
          <a:prstGeom prst="rect">
            <a:avLst/>
          </a:prstGeom>
          <a:noFill/>
          <a:ln/>
        </p:spPr>
        <p:txBody>
          <a:bodyPr wrap="square" lIns="0" tIns="0" rIns="0" bIns="0" rtlCol="0" anchor="ctr"/>
          <a:lstStyle/>
          <a:p>
            <a:pPr algn="r" indent="0" marL="0">
              <a:buNone/>
            </a:pPr>
            <a:r>
              <a:rPr lang="en-US" sz="820" dirty="0">
                <a:solidFill>
                  <a:srgbClr val="607D89"/>
                </a:solidFill>
                <a:latin typeface="Arial" pitchFamily="34" charset="0"/>
                <a:ea typeface="Arial" pitchFamily="34" charset="-122"/>
                <a:cs typeface="Arial" pitchFamily="34" charset="-120"/>
              </a:rPr>
              <a:t>CNBS Honduras · Saved analytical outputs · Real application captures</a:t>
            </a:r>
            <a:endParaRPr lang="en-US" sz="820" dirty="0"/>
          </a:p>
        </p:txBody>
      </p:sp>
      <p:sp>
        <p:nvSpPr>
          <p:cNvPr id="7" name="Text 5"/>
          <p:cNvSpPr/>
          <p:nvPr/>
        </p:nvSpPr>
        <p:spPr>
          <a:xfrm>
            <a:off x="11247120" y="6473952"/>
            <a:ext cx="438912" cy="219456"/>
          </a:xfrm>
          <a:prstGeom prst="rect">
            <a:avLst/>
          </a:prstGeom>
          <a:noFill/>
          <a:ln/>
        </p:spPr>
        <p:txBody>
          <a:bodyPr wrap="square" lIns="0" tIns="0" rIns="0" bIns="0" rtlCol="0" anchor="ctr"/>
          <a:lstStyle/>
          <a:p>
            <a:pPr algn="r" indent="0" marL="0">
              <a:buNone/>
            </a:pPr>
            <a:r>
              <a:rPr lang="en-US" sz="1000" dirty="0">
                <a:solidFill>
                  <a:srgbClr val="607D89"/>
                </a:solidFill>
                <a:latin typeface="Arial" pitchFamily="34" charset="0"/>
                <a:ea typeface="Arial" pitchFamily="34" charset="-122"/>
                <a:cs typeface="Arial" pitchFamily="34" charset="-120"/>
              </a:rPr>
              <a:t>08</a:t>
            </a:r>
            <a:endParaRPr lang="en-US" sz="1000" dirty="0"/>
          </a:p>
        </p:txBody>
      </p:sp>
      <p:sp>
        <p:nvSpPr>
          <p:cNvPr id="8" name="Shape 6"/>
          <p:cNvSpPr/>
          <p:nvPr/>
        </p:nvSpPr>
        <p:spPr>
          <a:xfrm>
            <a:off x="548640" y="1828800"/>
            <a:ext cx="1417320" cy="566928"/>
          </a:xfrm>
          <a:prstGeom prst="roundRect">
            <a:avLst>
              <a:gd name="adj" fmla="val 14516"/>
            </a:avLst>
          </a:prstGeom>
          <a:solidFill>
            <a:srgbClr val="FFFFFF"/>
          </a:solidFill>
          <a:ln w="10160">
            <a:solidFill>
              <a:srgbClr val="DCE7EA"/>
            </a:solidFill>
            <a:prstDash val="solid"/>
          </a:ln>
        </p:spPr>
      </p:sp>
      <p:sp>
        <p:nvSpPr>
          <p:cNvPr id="9" name="Text 7"/>
          <p:cNvSpPr/>
          <p:nvPr/>
        </p:nvSpPr>
        <p:spPr>
          <a:xfrm>
            <a:off x="612648" y="1984248"/>
            <a:ext cx="1289304" cy="228600"/>
          </a:xfrm>
          <a:prstGeom prst="rect">
            <a:avLst/>
          </a:prstGeom>
          <a:noFill/>
          <a:ln/>
        </p:spPr>
        <p:txBody>
          <a:bodyPr wrap="square" lIns="0" tIns="0" rIns="0" bIns="0" rtlCol="0" anchor="ctr"/>
          <a:lstStyle/>
          <a:p>
            <a:pPr algn="ctr" indent="0" marL="0">
              <a:buNone/>
            </a:pPr>
            <a:r>
              <a:rPr lang="en-US" sz="1500" b="1" dirty="0">
                <a:solidFill>
                  <a:srgbClr val="183543"/>
                </a:solidFill>
                <a:latin typeface="Arial" pitchFamily="34" charset="0"/>
                <a:ea typeface="Arial" pitchFamily="34" charset="-122"/>
                <a:cs typeface="Arial" pitchFamily="34" charset="-120"/>
              </a:rPr>
              <a:t>CNBS</a:t>
            </a:r>
            <a:endParaRPr lang="en-US" sz="1500" dirty="0"/>
          </a:p>
        </p:txBody>
      </p:sp>
      <p:sp>
        <p:nvSpPr>
          <p:cNvPr id="10" name="Text 8"/>
          <p:cNvSpPr/>
          <p:nvPr/>
        </p:nvSpPr>
        <p:spPr>
          <a:xfrm>
            <a:off x="1965960"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2157984" y="1828800"/>
            <a:ext cx="1417320" cy="566928"/>
          </a:xfrm>
          <a:prstGeom prst="roundRect">
            <a:avLst>
              <a:gd name="adj" fmla="val 14516"/>
            </a:avLst>
          </a:prstGeom>
          <a:solidFill>
            <a:srgbClr val="FFFFFF"/>
          </a:solidFill>
          <a:ln w="10160">
            <a:solidFill>
              <a:srgbClr val="DCE7EA"/>
            </a:solidFill>
            <a:prstDash val="solid"/>
          </a:ln>
        </p:spPr>
      </p:sp>
      <p:sp>
        <p:nvSpPr>
          <p:cNvPr id="12" name="Text 10"/>
          <p:cNvSpPr/>
          <p:nvPr/>
        </p:nvSpPr>
        <p:spPr>
          <a:xfrm>
            <a:off x="2221992" y="1984248"/>
            <a:ext cx="1289304" cy="228600"/>
          </a:xfrm>
          <a:prstGeom prst="rect">
            <a:avLst/>
          </a:prstGeom>
          <a:noFill/>
          <a:ln/>
        </p:spPr>
        <p:txBody>
          <a:bodyPr wrap="square" lIns="0" tIns="0" rIns="0" bIns="0" rtlCol="0" anchor="ctr"/>
          <a:lstStyle/>
          <a:p>
            <a:pPr algn="ctr" indent="0" marL="0">
              <a:buNone/>
            </a:pPr>
            <a:r>
              <a:rPr lang="en-US" sz="1500" b="1" dirty="0">
                <a:solidFill>
                  <a:srgbClr val="183543"/>
                </a:solidFill>
                <a:latin typeface="Arial" pitchFamily="34" charset="0"/>
                <a:ea typeface="Arial" pitchFamily="34" charset="-122"/>
                <a:cs typeface="Arial" pitchFamily="34" charset="-120"/>
              </a:rPr>
              <a:t>Statistics</a:t>
            </a:r>
            <a:endParaRPr lang="en-US" sz="1500" dirty="0"/>
          </a:p>
        </p:txBody>
      </p:sp>
      <p:sp>
        <p:nvSpPr>
          <p:cNvPr id="13" name="Text 11"/>
          <p:cNvSpPr/>
          <p:nvPr/>
        </p:nvSpPr>
        <p:spPr>
          <a:xfrm>
            <a:off x="3575304"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3767328" y="1828800"/>
            <a:ext cx="1417320" cy="566928"/>
          </a:xfrm>
          <a:prstGeom prst="roundRect">
            <a:avLst>
              <a:gd name="adj" fmla="val 14516"/>
            </a:avLst>
          </a:prstGeom>
          <a:solidFill>
            <a:srgbClr val="FFFFFF"/>
          </a:solidFill>
          <a:ln w="10160">
            <a:solidFill>
              <a:srgbClr val="DCE7EA"/>
            </a:solidFill>
            <a:prstDash val="solid"/>
          </a:ln>
        </p:spPr>
      </p:sp>
      <p:sp>
        <p:nvSpPr>
          <p:cNvPr id="15" name="Text 13"/>
          <p:cNvSpPr/>
          <p:nvPr/>
        </p:nvSpPr>
        <p:spPr>
          <a:xfrm>
            <a:off x="3831336" y="1984248"/>
            <a:ext cx="1289304" cy="228600"/>
          </a:xfrm>
          <a:prstGeom prst="rect">
            <a:avLst/>
          </a:prstGeom>
          <a:noFill/>
          <a:ln/>
        </p:spPr>
        <p:txBody>
          <a:bodyPr wrap="square" lIns="0" tIns="0" rIns="0" bIns="0" rtlCol="0" anchor="ctr"/>
          <a:lstStyle/>
          <a:p>
            <a:pPr algn="ctr" indent="0" marL="0">
              <a:buNone/>
            </a:pPr>
            <a:r>
              <a:rPr lang="en-US" sz="1500" b="1" dirty="0">
                <a:solidFill>
                  <a:srgbClr val="183543"/>
                </a:solidFill>
                <a:latin typeface="Arial" pitchFamily="34" charset="0"/>
                <a:ea typeface="Arial" pitchFamily="34" charset="-122"/>
                <a:cs typeface="Arial" pitchFamily="34" charset="-120"/>
              </a:rPr>
              <a:t>Cloudflare</a:t>
            </a:r>
            <a:endParaRPr lang="en-US" sz="1500" dirty="0"/>
          </a:p>
        </p:txBody>
      </p:sp>
      <p:sp>
        <p:nvSpPr>
          <p:cNvPr id="16" name="Text 14"/>
          <p:cNvSpPr/>
          <p:nvPr/>
        </p:nvSpPr>
        <p:spPr>
          <a:xfrm>
            <a:off x="5184648"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5376672" y="1828800"/>
            <a:ext cx="1417320" cy="566928"/>
          </a:xfrm>
          <a:prstGeom prst="roundRect">
            <a:avLst>
              <a:gd name="adj" fmla="val 14516"/>
            </a:avLst>
          </a:prstGeom>
          <a:solidFill>
            <a:srgbClr val="FFFFFF"/>
          </a:solidFill>
          <a:ln w="10160">
            <a:solidFill>
              <a:srgbClr val="DCE7EA"/>
            </a:solidFill>
            <a:prstDash val="solid"/>
          </a:ln>
        </p:spPr>
      </p:sp>
      <p:sp>
        <p:nvSpPr>
          <p:cNvPr id="18" name="Text 16"/>
          <p:cNvSpPr/>
          <p:nvPr/>
        </p:nvSpPr>
        <p:spPr>
          <a:xfrm>
            <a:off x="5440680" y="1984248"/>
            <a:ext cx="1289304" cy="228600"/>
          </a:xfrm>
          <a:prstGeom prst="rect">
            <a:avLst/>
          </a:prstGeom>
          <a:noFill/>
          <a:ln/>
        </p:spPr>
        <p:txBody>
          <a:bodyPr wrap="square" lIns="0" tIns="0" rIns="0" bIns="0" rtlCol="0" anchor="ctr"/>
          <a:lstStyle/>
          <a:p>
            <a:pPr algn="ctr" indent="0" marL="0">
              <a:buNone/>
            </a:pPr>
            <a:r>
              <a:rPr lang="en-US" sz="1500" b="1" dirty="0">
                <a:solidFill>
                  <a:srgbClr val="183543"/>
                </a:solidFill>
                <a:latin typeface="Arial" pitchFamily="34" charset="0"/>
                <a:ea typeface="Arial" pitchFamily="34" charset="-122"/>
                <a:cs typeface="Arial" pitchFamily="34" charset="-120"/>
              </a:rPr>
              <a:t>Railway</a:t>
            </a:r>
            <a:endParaRPr lang="en-US" sz="1500" dirty="0"/>
          </a:p>
        </p:txBody>
      </p:sp>
      <p:sp>
        <p:nvSpPr>
          <p:cNvPr id="19" name="Text 17"/>
          <p:cNvSpPr/>
          <p:nvPr/>
        </p:nvSpPr>
        <p:spPr>
          <a:xfrm>
            <a:off x="6793992"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6986016" y="1828800"/>
            <a:ext cx="1417320" cy="566928"/>
          </a:xfrm>
          <a:prstGeom prst="roundRect">
            <a:avLst>
              <a:gd name="adj" fmla="val 14516"/>
            </a:avLst>
          </a:prstGeom>
          <a:solidFill>
            <a:srgbClr val="164E63"/>
          </a:solidFill>
          <a:ln w="10160">
            <a:solidFill>
              <a:srgbClr val="164E63"/>
            </a:solidFill>
            <a:prstDash val="solid"/>
          </a:ln>
        </p:spPr>
      </p:sp>
      <p:sp>
        <p:nvSpPr>
          <p:cNvPr id="21" name="Text 19"/>
          <p:cNvSpPr/>
          <p:nvPr/>
        </p:nvSpPr>
        <p:spPr>
          <a:xfrm>
            <a:off x="7050024" y="1984248"/>
            <a:ext cx="1289304"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Evolus</a:t>
            </a:r>
            <a:endParaRPr lang="en-US" sz="1500" dirty="0"/>
          </a:p>
        </p:txBody>
      </p:sp>
      <p:sp>
        <p:nvSpPr>
          <p:cNvPr id="22" name="Text 20"/>
          <p:cNvSpPr/>
          <p:nvPr/>
        </p:nvSpPr>
        <p:spPr>
          <a:xfrm>
            <a:off x="8403336"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23" name="Shape 21"/>
          <p:cNvSpPr/>
          <p:nvPr/>
        </p:nvSpPr>
        <p:spPr>
          <a:xfrm>
            <a:off x="8595360" y="1828800"/>
            <a:ext cx="1417320" cy="566928"/>
          </a:xfrm>
          <a:prstGeom prst="roundRect">
            <a:avLst>
              <a:gd name="adj" fmla="val 14516"/>
            </a:avLst>
          </a:prstGeom>
          <a:solidFill>
            <a:srgbClr val="164E63"/>
          </a:solidFill>
          <a:ln w="10160">
            <a:solidFill>
              <a:srgbClr val="164E63"/>
            </a:solidFill>
            <a:prstDash val="solid"/>
          </a:ln>
        </p:spPr>
      </p:sp>
      <p:sp>
        <p:nvSpPr>
          <p:cNvPr id="24" name="Text 22"/>
          <p:cNvSpPr/>
          <p:nvPr/>
        </p:nvSpPr>
        <p:spPr>
          <a:xfrm>
            <a:off x="8659368" y="1984248"/>
            <a:ext cx="1289304"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AMD</a:t>
            </a:r>
            <a:endParaRPr lang="en-US" sz="1500" dirty="0"/>
          </a:p>
        </p:txBody>
      </p:sp>
      <p:sp>
        <p:nvSpPr>
          <p:cNvPr id="25" name="Text 23"/>
          <p:cNvSpPr/>
          <p:nvPr/>
        </p:nvSpPr>
        <p:spPr>
          <a:xfrm>
            <a:off x="10012680" y="1947672"/>
            <a:ext cx="192024" cy="320040"/>
          </a:xfrm>
          <a:prstGeom prst="rect">
            <a:avLst/>
          </a:prstGeom>
          <a:noFill/>
          <a:ln/>
        </p:spPr>
        <p:txBody>
          <a:bodyPr wrap="square" lIns="0" tIns="0" rIns="0" bIns="0" rtlCol="0" anchor="ctr"/>
          <a:lstStyle/>
          <a:p>
            <a:pPr algn="ctr" indent="0" marL="0">
              <a:buNone/>
            </a:pPr>
            <a:r>
              <a:rPr lang="en-US" sz="2400" dirty="0">
                <a:solidFill>
                  <a:srgbClr val="607D89"/>
                </a:solidFill>
                <a:latin typeface="Arial" pitchFamily="34" charset="0"/>
                <a:ea typeface="Arial" pitchFamily="34" charset="-122"/>
                <a:cs typeface="Arial" pitchFamily="34" charset="-120"/>
              </a:rPr>
              <a:t>→</a:t>
            </a:r>
            <a:endParaRPr lang="en-US" sz="2400" dirty="0"/>
          </a:p>
        </p:txBody>
      </p:sp>
      <p:sp>
        <p:nvSpPr>
          <p:cNvPr id="26" name="Shape 24"/>
          <p:cNvSpPr/>
          <p:nvPr/>
        </p:nvSpPr>
        <p:spPr>
          <a:xfrm>
            <a:off x="10204704" y="1828800"/>
            <a:ext cx="1417320" cy="566928"/>
          </a:xfrm>
          <a:prstGeom prst="roundRect">
            <a:avLst>
              <a:gd name="adj" fmla="val 14516"/>
            </a:avLst>
          </a:prstGeom>
          <a:solidFill>
            <a:srgbClr val="FFFFFF"/>
          </a:solidFill>
          <a:ln w="10160">
            <a:solidFill>
              <a:srgbClr val="DCE7EA"/>
            </a:solidFill>
            <a:prstDash val="solid"/>
          </a:ln>
        </p:spPr>
      </p:sp>
      <p:sp>
        <p:nvSpPr>
          <p:cNvPr id="27" name="Text 25"/>
          <p:cNvSpPr/>
          <p:nvPr/>
        </p:nvSpPr>
        <p:spPr>
          <a:xfrm>
            <a:off x="10268712" y="1984248"/>
            <a:ext cx="1289304" cy="228600"/>
          </a:xfrm>
          <a:prstGeom prst="rect">
            <a:avLst/>
          </a:prstGeom>
          <a:noFill/>
          <a:ln/>
        </p:spPr>
        <p:txBody>
          <a:bodyPr wrap="square" lIns="0" tIns="0" rIns="0" bIns="0" rtlCol="0" anchor="ctr"/>
          <a:lstStyle/>
          <a:p>
            <a:pPr algn="ctr" indent="0" marL="0">
              <a:buNone/>
            </a:pPr>
            <a:r>
              <a:rPr lang="en-US" sz="1500" b="1" dirty="0">
                <a:solidFill>
                  <a:srgbClr val="183543"/>
                </a:solidFill>
                <a:latin typeface="Arial" pitchFamily="34" charset="0"/>
                <a:ea typeface="Arial" pitchFamily="34" charset="-122"/>
                <a:cs typeface="Arial" pitchFamily="34" charset="-120"/>
              </a:rPr>
              <a:t>Human</a:t>
            </a:r>
            <a:endParaRPr lang="en-US" sz="1500" dirty="0"/>
          </a:p>
        </p:txBody>
      </p:sp>
      <p:sp>
        <p:nvSpPr>
          <p:cNvPr id="28" name="Text 26"/>
          <p:cNvSpPr/>
          <p:nvPr/>
        </p:nvSpPr>
        <p:spPr>
          <a:xfrm>
            <a:off x="594360" y="2706624"/>
            <a:ext cx="7315200" cy="228600"/>
          </a:xfrm>
          <a:prstGeom prst="rect">
            <a:avLst/>
          </a:prstGeom>
          <a:noFill/>
          <a:ln/>
        </p:spPr>
        <p:txBody>
          <a:bodyPr wrap="square" lIns="0" tIns="0" rIns="0" bIns="0" rtlCol="0" anchor="ctr"/>
          <a:lstStyle/>
          <a:p>
            <a:pPr indent="0" marL="0">
              <a:buNone/>
            </a:pPr>
            <a:r>
              <a:rPr lang="en-US" sz="1100" b="1" spc="130" kern="0" dirty="0">
                <a:solidFill>
                  <a:srgbClr val="29877D"/>
                </a:solidFill>
                <a:latin typeface="Arial" pitchFamily="34" charset="0"/>
                <a:ea typeface="Arial" pitchFamily="34" charset="-122"/>
                <a:cs typeface="Arial" pitchFamily="34" charset="-120"/>
              </a:rPr>
              <a:t>VERIFIED IN RECORDED RUNS</a:t>
            </a:r>
            <a:endParaRPr lang="en-US" sz="1100" dirty="0"/>
          </a:p>
        </p:txBody>
      </p:sp>
      <p:sp>
        <p:nvSpPr>
          <p:cNvPr id="29" name="Text 27"/>
          <p:cNvSpPr/>
          <p:nvPr/>
        </p:nvSpPr>
        <p:spPr>
          <a:xfrm>
            <a:off x="594360" y="3154680"/>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Public dashboard</a:t>
            </a:r>
            <a:endParaRPr lang="en-US" sz="1800" dirty="0"/>
          </a:p>
        </p:txBody>
      </p:sp>
      <p:sp>
        <p:nvSpPr>
          <p:cNvPr id="30" name="Text 28"/>
          <p:cNvSpPr/>
          <p:nvPr/>
        </p:nvSpPr>
        <p:spPr>
          <a:xfrm>
            <a:off x="4361688" y="3154680"/>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Railway production API</a:t>
            </a:r>
            <a:endParaRPr lang="en-US" sz="1800" dirty="0"/>
          </a:p>
        </p:txBody>
      </p:sp>
      <p:sp>
        <p:nvSpPr>
          <p:cNvPr id="31" name="Text 29"/>
          <p:cNvSpPr/>
          <p:nvPr/>
        </p:nvSpPr>
        <p:spPr>
          <a:xfrm>
            <a:off x="8129016" y="3154680"/>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Evolus workflow</a:t>
            </a:r>
            <a:endParaRPr lang="en-US" sz="1800" dirty="0"/>
          </a:p>
        </p:txBody>
      </p:sp>
      <p:sp>
        <p:nvSpPr>
          <p:cNvPr id="32" name="Text 30"/>
          <p:cNvSpPr/>
          <p:nvPr/>
        </p:nvSpPr>
        <p:spPr>
          <a:xfrm>
            <a:off x="594360" y="3575304"/>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AMD Token Factory</a:t>
            </a:r>
            <a:endParaRPr lang="en-US" sz="1800" dirty="0"/>
          </a:p>
        </p:txBody>
      </p:sp>
      <p:sp>
        <p:nvSpPr>
          <p:cNvPr id="33" name="Text 31"/>
          <p:cNvSpPr/>
          <p:nvPr/>
        </p:nvSpPr>
        <p:spPr>
          <a:xfrm>
            <a:off x="4361688" y="3575304"/>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DeepSeek-V4-Flash</a:t>
            </a:r>
            <a:endParaRPr lang="en-US" sz="1800" dirty="0"/>
          </a:p>
        </p:txBody>
      </p:sp>
      <p:sp>
        <p:nvSpPr>
          <p:cNvPr id="34" name="Text 32"/>
          <p:cNvSpPr/>
          <p:nvPr/>
        </p:nvSpPr>
        <p:spPr>
          <a:xfrm>
            <a:off x="8129016" y="3575304"/>
            <a:ext cx="3675888" cy="292608"/>
          </a:xfrm>
          <a:prstGeom prst="rect">
            <a:avLst/>
          </a:prstGeom>
          <a:noFill/>
          <a:ln/>
        </p:spPr>
        <p:txBody>
          <a:bodyPr wrap="square" lIns="0" tIns="0" rIns="0" bIns="0" rtlCol="0" anchor="ctr"/>
          <a:lstStyle/>
          <a:p>
            <a:pPr indent="0" marL="0">
              <a:buNone/>
            </a:pPr>
            <a:r>
              <a:rPr lang="en-US" sz="1800" dirty="0">
                <a:solidFill>
                  <a:srgbClr val="183543"/>
                </a:solidFill>
                <a:latin typeface="Arial" pitchFamily="34" charset="0"/>
                <a:ea typeface="Arial" pitchFamily="34" charset="-122"/>
                <a:cs typeface="Arial" pitchFamily="34" charset="-120"/>
              </a:rPr>
              <a:t>✓ Mandatory human review</a:t>
            </a:r>
            <a:endParaRPr lang="en-US" sz="1800" dirty="0"/>
          </a:p>
        </p:txBody>
      </p:sp>
      <p:sp>
        <p:nvSpPr>
          <p:cNvPr id="35" name="Shape 33"/>
          <p:cNvSpPr/>
          <p:nvPr/>
        </p:nvSpPr>
        <p:spPr>
          <a:xfrm>
            <a:off x="548640" y="4151376"/>
            <a:ext cx="11091672" cy="877824"/>
          </a:xfrm>
          <a:prstGeom prst="roundRect">
            <a:avLst>
              <a:gd name="adj" fmla="val 8333"/>
            </a:avLst>
          </a:prstGeom>
          <a:solidFill>
            <a:srgbClr val="EAF2F4"/>
          </a:solidFill>
          <a:ln w="10160">
            <a:solidFill>
              <a:srgbClr val="EAF2F4"/>
            </a:solidFill>
            <a:prstDash val="solid"/>
          </a:ln>
        </p:spPr>
      </p:sp>
      <p:sp>
        <p:nvSpPr>
          <p:cNvPr id="36" name="Text 34"/>
          <p:cNvSpPr/>
          <p:nvPr/>
        </p:nvSpPr>
        <p:spPr>
          <a:xfrm>
            <a:off x="749808" y="4297680"/>
            <a:ext cx="6995160" cy="256032"/>
          </a:xfrm>
          <a:prstGeom prst="rect">
            <a:avLst/>
          </a:prstGeom>
          <a:noFill/>
          <a:ln/>
        </p:spPr>
        <p:txBody>
          <a:bodyPr wrap="square" lIns="0" tIns="0" rIns="0" bIns="0" rtlCol="0" anchor="ctr"/>
          <a:lstStyle/>
          <a:p>
            <a:pPr indent="0" marL="0">
              <a:buNone/>
            </a:pPr>
            <a:r>
              <a:rPr lang="en-US" sz="1600" b="1" dirty="0">
                <a:solidFill>
                  <a:srgbClr val="164E63"/>
                </a:solidFill>
                <a:latin typeface="Arial" pitchFamily="34" charset="0"/>
                <a:ea typeface="Arial" pitchFamily="34" charset="-122"/>
                <a:cs typeface="Arial" pitchFamily="34" charset="-120"/>
              </a:rPr>
              <a:t>PARTIAL / VERIFIED FOR CLAIMS CASE</a:t>
            </a:r>
            <a:endParaRPr lang="en-US" sz="1600" dirty="0"/>
          </a:p>
        </p:txBody>
      </p:sp>
      <p:sp>
        <p:nvSpPr>
          <p:cNvPr id="37" name="Text 35"/>
          <p:cNvSpPr/>
          <p:nvPr/>
        </p:nvSpPr>
        <p:spPr>
          <a:xfrm>
            <a:off x="749808" y="4645152"/>
            <a:ext cx="10698480" cy="210312"/>
          </a:xfrm>
          <a:prstGeom prst="rect">
            <a:avLst/>
          </a:prstGeom>
          <a:noFill/>
          <a:ln/>
        </p:spPr>
        <p:txBody>
          <a:bodyPr wrap="square" lIns="0" tIns="0" rIns="0" bIns="0" rtlCol="0" anchor="ctr"/>
          <a:lstStyle/>
          <a:p>
            <a:pPr indent="0" marL="0">
              <a:buNone/>
            </a:pPr>
            <a:r>
              <a:rPr lang="en-US" sz="1200" dirty="0">
                <a:solidFill>
                  <a:srgbClr val="607D89"/>
                </a:solidFill>
                <a:latin typeface="Arial" pitchFamily="34" charset="0"/>
                <a:ea typeface="Arial" pitchFamily="34" charset="-122"/>
                <a:cs typeface="Arial" pitchFamily="34" charset="-120"/>
              </a:rPr>
              <a:t>Claims completed in ~154 seconds. Ratio retry: “Missing model execution envelope”. Safeguards were not weakened.</a:t>
            </a:r>
            <a:endParaRPr lang="en-US" sz="1200" dirty="0"/>
          </a:p>
        </p:txBody>
      </p:sp>
      <p:sp>
        <p:nvSpPr>
          <p:cNvPr id="38" name="Text 36"/>
          <p:cNvSpPr/>
          <p:nvPr/>
        </p:nvSpPr>
        <p:spPr>
          <a:xfrm>
            <a:off x="594360" y="5285232"/>
            <a:ext cx="10972800" cy="420624"/>
          </a:xfrm>
          <a:prstGeom prst="rect">
            <a:avLst/>
          </a:prstGeom>
          <a:noFill/>
          <a:ln/>
        </p:spPr>
        <p:txBody>
          <a:bodyPr wrap="square" lIns="0" tIns="0" rIns="0" bIns="0" rtlCol="0" anchor="ctr"/>
          <a:lstStyle/>
          <a:p>
            <a:pPr indent="0" marL="0">
              <a:buNone/>
            </a:pPr>
            <a:r>
              <a:rPr lang="en-US" sz="2500" b="1" dirty="0">
                <a:solidFill>
                  <a:srgbClr val="183543"/>
                </a:solidFill>
                <a:latin typeface="Arial" pitchFamily="34" charset="0"/>
                <a:ea typeface="Arial" pitchFamily="34" charset="-122"/>
                <a:cs typeface="Arial" pitchFamily="34" charset="-120"/>
              </a:rPr>
              <a:t>We detect first. AI investigates second. Humans decide.</a:t>
            </a:r>
            <a:endParaRPr lang="en-US" sz="2500" dirty="0"/>
          </a:p>
        </p:txBody>
      </p:sp>
      <p:sp>
        <p:nvSpPr>
          <p:cNvPr id="39" name="Text 37"/>
          <p:cNvSpPr/>
          <p:nvPr/>
        </p:nvSpPr>
        <p:spPr>
          <a:xfrm>
            <a:off x="594360" y="5833872"/>
            <a:ext cx="1097280" cy="164592"/>
          </a:xfrm>
          <a:prstGeom prst="rect">
            <a:avLst/>
          </a:prstGeom>
          <a:noFill/>
          <a:ln/>
        </p:spPr>
        <p:txBody>
          <a:bodyPr wrap="square" lIns="0" tIns="0" rIns="0" bIns="0" rtlCol="0" anchor="ctr"/>
          <a:lstStyle/>
          <a:p>
            <a:pPr indent="0" marL="0">
              <a:buNone/>
            </a:pPr>
            <a:r>
              <a:rPr lang="en-US" sz="900" b="1" spc="100" kern="0" dirty="0">
                <a:solidFill>
                  <a:srgbClr val="29877D"/>
                </a:solidFill>
                <a:latin typeface="Arial" pitchFamily="34" charset="0"/>
                <a:ea typeface="Arial" pitchFamily="34" charset="-122"/>
                <a:cs typeface="Arial" pitchFamily="34" charset="-120"/>
              </a:rPr>
              <a:t>LIVE DEMO</a:t>
            </a:r>
            <a:endParaRPr lang="en-US" sz="900" dirty="0"/>
          </a:p>
        </p:txBody>
      </p:sp>
      <p:sp>
        <p:nvSpPr>
          <p:cNvPr id="40" name="Text 38">
            <a:hlinkClick r:id="rId1" tooltip=""/>
          </p:cNvPr>
          <p:cNvSpPr/>
          <p:nvPr/>
        </p:nvSpPr>
        <p:spPr>
          <a:xfrm>
            <a:off x="1810512" y="5788152"/>
            <a:ext cx="9784080" cy="256032"/>
          </a:xfrm>
          <a:prstGeom prst="rect">
            <a:avLst/>
          </a:prstGeom>
          <a:noFill/>
          <a:ln/>
        </p:spPr>
        <p:txBody>
          <a:bodyPr wrap="square" lIns="0" tIns="0" rIns="0" bIns="0" rtlCol="0" anchor="ctr"/>
          <a:lstStyle/>
          <a:p>
            <a:pPr indent="0" marL="0">
              <a:buNone/>
            </a:pPr>
            <a:r>
              <a:rPr lang="en-US" sz="1500" u="sng" dirty="0">
                <a:solidFill>
                  <a:srgbClr val="164E63"/>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actuarial-signal-radar.diegoturciostc.workers.dev</a:t>
            </a:r>
            <a:endParaRPr lang="en-US" sz="1500" dirty="0"/>
          </a:p>
        </p:txBody>
      </p:sp>
      <p:sp>
        <p:nvSpPr>
          <p:cNvPr id="41" name="Text 39"/>
          <p:cNvSpPr/>
          <p:nvPr/>
        </p:nvSpPr>
        <p:spPr>
          <a:xfrm>
            <a:off x="594360" y="6199632"/>
            <a:ext cx="1097280" cy="164592"/>
          </a:xfrm>
          <a:prstGeom prst="rect">
            <a:avLst/>
          </a:prstGeom>
          <a:noFill/>
          <a:ln/>
        </p:spPr>
        <p:txBody>
          <a:bodyPr wrap="square" lIns="0" tIns="0" rIns="0" bIns="0" rtlCol="0" anchor="ctr"/>
          <a:lstStyle/>
          <a:p>
            <a:pPr indent="0" marL="0">
              <a:buNone/>
            </a:pPr>
            <a:r>
              <a:rPr lang="en-US" sz="900" b="1" spc="100" kern="0" dirty="0">
                <a:solidFill>
                  <a:srgbClr val="29877D"/>
                </a:solidFill>
                <a:latin typeface="Arial" pitchFamily="34" charset="0"/>
                <a:ea typeface="Arial" pitchFamily="34" charset="-122"/>
                <a:cs typeface="Arial" pitchFamily="34" charset="-120"/>
              </a:rPr>
              <a:t>GITHUB</a:t>
            </a:r>
            <a:endParaRPr lang="en-US" sz="900" dirty="0"/>
          </a:p>
        </p:txBody>
      </p:sp>
      <p:sp>
        <p:nvSpPr>
          <p:cNvPr id="42" name="Text 40">
            <a:hlinkClick r:id="rId2" tooltip=""/>
          </p:cNvPr>
          <p:cNvSpPr/>
          <p:nvPr/>
        </p:nvSpPr>
        <p:spPr>
          <a:xfrm>
            <a:off x="1810512" y="6144768"/>
            <a:ext cx="9784080" cy="256032"/>
          </a:xfrm>
          <a:prstGeom prst="rect">
            <a:avLst/>
          </a:prstGeom>
          <a:noFill/>
          <a:ln/>
        </p:spPr>
        <p:txBody>
          <a:bodyPr wrap="square" lIns="0" tIns="0" rIns="0" bIns="0" rtlCol="0" anchor="ctr"/>
          <a:lstStyle/>
          <a:p>
            <a:pPr indent="0" marL="0">
              <a:buNone/>
            </a:pPr>
            <a:r>
              <a:rPr lang="en-US" sz="1400" u="sng" dirty="0">
                <a:solidFill>
                  <a:srgbClr val="164E63"/>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github.com/DiegoTc/o-Actuarial-Signal-Radar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Actuarial Signal Radar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Actuarial Signal Radar</dc:title>
  <dc:subject>AMD Developer Hackathon: ACT III · Evolus Business Agents on AMD</dc:subject>
  <dc:creator>Diego Turcios</dc:creator>
  <cp:lastModifiedBy>Diego Turcios</cp:lastModifiedBy>
  <cp:revision>1</cp:revision>
  <dcterms:created xsi:type="dcterms:W3CDTF">2026-10-17T15:48:41Z</dcterms:created>
  <dcterms:modified xsi:type="dcterms:W3CDTF">2026-10-17T15:48:41Z</dcterms:modified>
</cp:coreProperties>
</file>